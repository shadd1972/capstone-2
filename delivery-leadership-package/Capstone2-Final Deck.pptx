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784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hadd1972.github.io/Capstone-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737360"/>
          </a:xfrm>
          <a:prstGeom prst="rect">
            <a:avLst/>
          </a:prstGeom>
          <a:solidFill>
            <a:srgbClr val="0F1E2E"/>
          </a:solidFill>
          <a:ln w="12700">
            <a:solidFill>
              <a:srgbClr val="0F1E2E"/>
            </a:solidFill>
            <a:prstDash val="solid"/>
          </a:ln>
        </p:spPr>
        <p:txBody>
          <a:bodyPr/>
          <a:lstStyle/>
          <a:p>
            <a:endParaRPr lang="en-US"/>
          </a:p>
        </p:txBody>
      </p:sp>
      <p:sp>
        <p:nvSpPr>
          <p:cNvPr id="3" name="Shape 1"/>
          <p:cNvSpPr/>
          <p:nvPr/>
        </p:nvSpPr>
        <p:spPr>
          <a:xfrm>
            <a:off x="0" y="0"/>
            <a:ext cx="109728" cy="5143500"/>
          </a:xfrm>
          <a:prstGeom prst="rect">
            <a:avLst/>
          </a:prstGeom>
          <a:solidFill>
            <a:srgbClr val="2DA8A8"/>
          </a:solidFill>
          <a:ln w="12700">
            <a:solidFill>
              <a:srgbClr val="2DA8A8"/>
            </a:solidFill>
            <a:prstDash val="solid"/>
          </a:ln>
        </p:spPr>
        <p:txBody>
          <a:bodyPr/>
          <a:lstStyle/>
          <a:p>
            <a:endParaRPr lang="en-US"/>
          </a:p>
        </p:txBody>
      </p:sp>
      <p:sp>
        <p:nvSpPr>
          <p:cNvPr id="4" name="Text 2"/>
          <p:cNvSpPr txBox="1"/>
          <p:nvPr/>
        </p:nvSpPr>
        <p:spPr>
          <a:xfrm>
            <a:off x="274320" y="201168"/>
            <a:ext cx="8412480" cy="5486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Evergreen Insurance Quote</a:t>
            </a:r>
            <a:endParaRPr lang="en-US" sz="3400" dirty="0"/>
          </a:p>
        </p:txBody>
      </p:sp>
      <p:sp>
        <p:nvSpPr>
          <p:cNvPr id="5" name="Text 3"/>
          <p:cNvSpPr txBox="1"/>
          <p:nvPr/>
        </p:nvSpPr>
        <p:spPr>
          <a:xfrm>
            <a:off x="274320" y="786384"/>
            <a:ext cx="8412480" cy="402336"/>
          </a:xfrm>
          <a:prstGeom prst="rect">
            <a:avLst/>
          </a:prstGeom>
          <a:noFill/>
          <a:ln/>
        </p:spPr>
        <p:txBody>
          <a:bodyPr wrap="square" lIns="0" tIns="0" rIns="0" bIns="0" rtlCol="0" anchor="ctr"/>
          <a:lstStyle/>
          <a:p>
            <a:pPr marL="0" indent="0">
              <a:buNone/>
            </a:pPr>
            <a:r>
              <a:rPr lang="en-US" sz="1900" dirty="0">
                <a:solidFill>
                  <a:srgbClr val="5EC4C4"/>
                </a:solidFill>
                <a:latin typeface="Calibri" pitchFamily="34" charset="0"/>
                <a:ea typeface="Calibri" pitchFamily="34" charset="-122"/>
                <a:cs typeface="Calibri" pitchFamily="34" charset="-120"/>
              </a:rPr>
              <a:t>Phase 2 — Engineering Capstone Review</a:t>
            </a:r>
            <a:endParaRPr lang="en-US" sz="1900" dirty="0"/>
          </a:p>
        </p:txBody>
      </p:sp>
      <p:sp>
        <p:nvSpPr>
          <p:cNvPr id="6" name="Text 4"/>
          <p:cNvSpPr txBox="1"/>
          <p:nvPr/>
        </p:nvSpPr>
        <p:spPr>
          <a:xfrm>
            <a:off x="274320" y="1572768"/>
            <a:ext cx="4114800" cy="274320"/>
          </a:xfrm>
          <a:prstGeom prst="rect">
            <a:avLst/>
          </a:prstGeom>
          <a:noFill/>
          <a:ln/>
        </p:spPr>
        <p:txBody>
          <a:bodyPr wrap="square" lIns="0" tIns="0" rIns="0" bIns="0" rtlCol="0" anchor="ctr"/>
          <a:lstStyle/>
          <a:p>
            <a:pPr marL="0" indent="0">
              <a:buNone/>
            </a:pPr>
            <a:r>
              <a:rPr lang="en-US" sz="1100" dirty="0">
                <a:solidFill>
                  <a:srgbClr val="D0E2EE"/>
                </a:solidFill>
                <a:latin typeface="Calibri" pitchFamily="34" charset="0"/>
                <a:ea typeface="Calibri" pitchFamily="34" charset="-122"/>
                <a:cs typeface="Calibri" pitchFamily="34" charset="-120"/>
              </a:rPr>
              <a:t>Delivery Lead: Shadd Schutte</a:t>
            </a:r>
            <a:endParaRPr lang="en-US" sz="1100" dirty="0"/>
          </a:p>
        </p:txBody>
      </p:sp>
      <p:sp>
        <p:nvSpPr>
          <p:cNvPr id="7" name="Text 5"/>
          <p:cNvSpPr txBox="1"/>
          <p:nvPr/>
        </p:nvSpPr>
        <p:spPr>
          <a:xfrm>
            <a:off x="365760" y="1920240"/>
            <a:ext cx="4937760" cy="24688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D0E2EE"/>
                </a:solidFill>
                <a:latin typeface="Calibri" pitchFamily="34" charset="0"/>
                <a:ea typeface="Calibri" pitchFamily="34" charset="-122"/>
                <a:cs typeface="Calibri" pitchFamily="34" charset="-120"/>
              </a:rPr>
              <a:t>React + TypeScript SPA built on Vite toolchain</a:t>
            </a:r>
            <a:endParaRPr lang="en-US" sz="1300" dirty="0"/>
          </a:p>
          <a:p>
            <a:pPr marL="342900" indent="-342900">
              <a:spcAft>
                <a:spcPts val="600"/>
              </a:spcAft>
              <a:buSzPct val="100000"/>
              <a:buChar char="•"/>
            </a:pPr>
            <a:r>
              <a:rPr lang="en-US" sz="1300" dirty="0">
                <a:solidFill>
                  <a:srgbClr val="D0E2EE"/>
                </a:solidFill>
                <a:latin typeface="Calibri" pitchFamily="34" charset="0"/>
                <a:ea typeface="Calibri" pitchFamily="34" charset="-122"/>
                <a:cs typeface="Calibri" pitchFamily="34" charset="-120"/>
              </a:rPr>
              <a:t>Three React components assembled from provided kit</a:t>
            </a:r>
            <a:endParaRPr lang="en-US" sz="1300" dirty="0"/>
          </a:p>
          <a:p>
            <a:pPr marL="342900" indent="-342900">
              <a:spcAft>
                <a:spcPts val="600"/>
              </a:spcAft>
              <a:buSzPct val="100000"/>
              <a:buChar char="•"/>
            </a:pPr>
            <a:r>
              <a:rPr lang="en-US" sz="1300" dirty="0">
                <a:solidFill>
                  <a:srgbClr val="D0E2EE"/>
                </a:solidFill>
                <a:latin typeface="Calibri" pitchFamily="34" charset="0"/>
                <a:ea typeface="Calibri" pitchFamily="34" charset="-122"/>
                <a:cs typeface="Calibri" pitchFamily="34" charset="-120"/>
              </a:rPr>
              <a:t>Custom hook + Context for shared state</a:t>
            </a:r>
            <a:endParaRPr lang="en-US" sz="1300" dirty="0"/>
          </a:p>
          <a:p>
            <a:pPr marL="342900" indent="-342900">
              <a:spcAft>
                <a:spcPts val="600"/>
              </a:spcAft>
              <a:buSzPct val="100000"/>
              <a:buChar char="•"/>
            </a:pPr>
            <a:r>
              <a:rPr lang="en-US" sz="1300" dirty="0">
                <a:solidFill>
                  <a:srgbClr val="D0E2EE"/>
                </a:solidFill>
                <a:latin typeface="Calibri" pitchFamily="34" charset="0"/>
                <a:ea typeface="Calibri" pitchFamily="34" charset="-122"/>
                <a:cs typeface="Calibri" pitchFamily="34" charset="-120"/>
              </a:rPr>
              <a:t>CI pipeline (GitHub Actions) + deployment to GitHub Pages</a:t>
            </a:r>
            <a:endParaRPr lang="en-US" sz="1300" dirty="0"/>
          </a:p>
          <a:p>
            <a:pPr marL="342900" indent="-342900">
              <a:spcAft>
                <a:spcPts val="600"/>
              </a:spcAft>
              <a:buSzPct val="100000"/>
              <a:buChar char="•"/>
            </a:pPr>
            <a:r>
              <a:rPr lang="en-US" sz="1300" dirty="0">
                <a:solidFill>
                  <a:srgbClr val="D0E2EE"/>
                </a:solidFill>
                <a:latin typeface="Calibri" pitchFamily="34" charset="0"/>
                <a:ea typeface="Calibri" pitchFamily="34" charset="-122"/>
                <a:cs typeface="Calibri" pitchFamily="34" charset="-120"/>
              </a:rPr>
              <a:t>Three real-world injects handled across Day 2–3</a:t>
            </a:r>
            <a:endParaRPr lang="en-US" sz="1300" dirty="0"/>
          </a:p>
        </p:txBody>
      </p:sp>
      <p:sp>
        <p:nvSpPr>
          <p:cNvPr id="8" name="Shape 6"/>
          <p:cNvSpPr/>
          <p:nvPr/>
        </p:nvSpPr>
        <p:spPr>
          <a:xfrm>
            <a:off x="5577840" y="1874520"/>
            <a:ext cx="3246120" cy="2514600"/>
          </a:xfrm>
          <a:prstGeom prst="roundRect">
            <a:avLst>
              <a:gd name="adj" fmla="val 2909"/>
            </a:avLst>
          </a:prstGeom>
          <a:solidFill>
            <a:srgbClr val="1A3250"/>
          </a:solidFill>
          <a:ln w="12700">
            <a:solidFill>
              <a:srgbClr val="2DA8A8"/>
            </a:solidFill>
            <a:prstDash val="solid"/>
          </a:ln>
        </p:spPr>
        <p:txBody>
          <a:bodyPr/>
          <a:lstStyle/>
          <a:p>
            <a:endParaRPr lang="en-US"/>
          </a:p>
        </p:txBody>
      </p:sp>
      <p:sp>
        <p:nvSpPr>
          <p:cNvPr id="9" name="Text 7"/>
          <p:cNvSpPr txBox="1"/>
          <p:nvPr/>
        </p:nvSpPr>
        <p:spPr>
          <a:xfrm>
            <a:off x="5669280" y="1993392"/>
            <a:ext cx="3017520" cy="292608"/>
          </a:xfrm>
          <a:prstGeom prst="rect">
            <a:avLst/>
          </a:prstGeom>
          <a:noFill/>
          <a:ln/>
        </p:spPr>
        <p:txBody>
          <a:bodyPr wrap="square" lIns="0" tIns="0" rIns="0" bIns="0" rtlCol="0" anchor="ctr"/>
          <a:lstStyle/>
          <a:p>
            <a:pPr marL="0" indent="0">
              <a:buNone/>
            </a:pPr>
            <a:r>
              <a:rPr lang="en-US" sz="1200" b="1" dirty="0">
                <a:solidFill>
                  <a:srgbClr val="5EC4C4"/>
                </a:solidFill>
                <a:latin typeface="Calibri" pitchFamily="34" charset="0"/>
                <a:ea typeface="Calibri" pitchFamily="34" charset="-122"/>
                <a:cs typeface="Calibri" pitchFamily="34" charset="-120"/>
              </a:rPr>
              <a:t>Live Site</a:t>
            </a:r>
            <a:endParaRPr lang="en-US" sz="1200" dirty="0"/>
          </a:p>
        </p:txBody>
      </p:sp>
      <p:sp>
        <p:nvSpPr>
          <p:cNvPr id="10" name="Text 8"/>
          <p:cNvSpPr txBox="1"/>
          <p:nvPr/>
        </p:nvSpPr>
        <p:spPr>
          <a:xfrm>
            <a:off x="5669280" y="2322576"/>
            <a:ext cx="3017520" cy="292608"/>
          </a:xfrm>
          <a:prstGeom prst="rect">
            <a:avLst/>
          </a:prstGeom>
          <a:noFill/>
          <a:ln/>
        </p:spPr>
        <p:txBody>
          <a:bodyPr wrap="square" lIns="0" tIns="0" rIns="0" bIns="0" rtlCol="0" anchor="ctr"/>
          <a:lstStyle/>
          <a:p>
            <a:r>
              <a:rPr lang="en-US" sz="1050" dirty="0">
                <a:hlinkClick r:id="rId3"/>
              </a:rPr>
              <a:t>Evergreen Insurance - Get a Quote</a:t>
            </a:r>
            <a:endParaRPr lang="en-US" sz="1050" dirty="0"/>
          </a:p>
        </p:txBody>
      </p:sp>
      <p:sp>
        <p:nvSpPr>
          <p:cNvPr id="11" name="Text 9"/>
          <p:cNvSpPr txBox="1"/>
          <p:nvPr/>
        </p:nvSpPr>
        <p:spPr>
          <a:xfrm>
            <a:off x="5669280" y="2670048"/>
            <a:ext cx="3017520" cy="457200"/>
          </a:xfrm>
          <a:prstGeom prst="rect">
            <a:avLst/>
          </a:prstGeom>
          <a:noFill/>
          <a:ln/>
        </p:spPr>
        <p:txBody>
          <a:bodyPr wrap="square" lIns="0" tIns="0" rIns="0" bIns="0" rtlCol="0" anchor="ctr"/>
          <a:lstStyle/>
          <a:p>
            <a:pPr marL="0" indent="0">
              <a:buNone/>
            </a:pPr>
            <a:r>
              <a:rPr lang="en-US" sz="1000" dirty="0">
                <a:solidFill>
                  <a:srgbClr val="D0E2EE"/>
                </a:solidFill>
                <a:latin typeface="Calibri" pitchFamily="34" charset="0"/>
                <a:ea typeface="Calibri" pitchFamily="34" charset="-122"/>
                <a:cs typeface="Calibri" pitchFamily="34" charset="-120"/>
              </a:rPr>
              <a:t>GitHub Pages — deployed via</a:t>
            </a:r>
            <a:endParaRPr lang="en-US" sz="1000" dirty="0"/>
          </a:p>
          <a:p>
            <a:pPr marL="0" indent="0">
              <a:buNone/>
            </a:pPr>
            <a:r>
              <a:rPr lang="en-US" sz="1000" dirty="0">
                <a:solidFill>
                  <a:srgbClr val="D0E2EE"/>
                </a:solidFill>
                <a:latin typeface="Calibri" pitchFamily="34" charset="0"/>
                <a:ea typeface="Calibri" pitchFamily="34" charset="-122"/>
                <a:cs typeface="Calibri" pitchFamily="34" charset="-120"/>
              </a:rPr>
              <a:t>automated CI/CD pipeline on push to main</a:t>
            </a:r>
            <a:endParaRPr lang="en-US" sz="1000" dirty="0"/>
          </a:p>
        </p:txBody>
      </p:sp>
      <p:sp>
        <p:nvSpPr>
          <p:cNvPr id="12" name="Text 10"/>
          <p:cNvSpPr txBox="1"/>
          <p:nvPr/>
        </p:nvSpPr>
        <p:spPr>
          <a:xfrm>
            <a:off x="5669280" y="3218688"/>
            <a:ext cx="3017520" cy="237744"/>
          </a:xfrm>
          <a:prstGeom prst="rect">
            <a:avLst/>
          </a:prstGeom>
          <a:noFill/>
          <a:ln/>
        </p:spPr>
        <p:txBody>
          <a:bodyPr wrap="square" lIns="0" tIns="0" rIns="0" bIns="0" rtlCol="0" anchor="ctr"/>
          <a:lstStyle/>
          <a:p>
            <a:pPr marL="0" indent="0">
              <a:buNone/>
            </a:pPr>
            <a:r>
              <a:rPr lang="en-US" sz="1000" dirty="0">
                <a:solidFill>
                  <a:srgbClr val="5EC4C4"/>
                </a:solidFill>
                <a:latin typeface="Calibri" pitchFamily="34" charset="0"/>
                <a:ea typeface="Calibri" pitchFamily="34" charset="-122"/>
                <a:cs typeface="Calibri" pitchFamily="34" charset="-120"/>
              </a:rPr>
              <a:t>Stack: React · TypeScript · Vite</a:t>
            </a:r>
            <a:endParaRPr lang="en-US" sz="1000" dirty="0"/>
          </a:p>
        </p:txBody>
      </p:sp>
      <p:sp>
        <p:nvSpPr>
          <p:cNvPr id="13" name="Text 11"/>
          <p:cNvSpPr txBox="1"/>
          <p:nvPr/>
        </p:nvSpPr>
        <p:spPr>
          <a:xfrm>
            <a:off x="5669280" y="3474720"/>
            <a:ext cx="3017520" cy="237744"/>
          </a:xfrm>
          <a:prstGeom prst="rect">
            <a:avLst/>
          </a:prstGeom>
          <a:noFill/>
          <a:ln/>
        </p:spPr>
        <p:txBody>
          <a:bodyPr wrap="square" lIns="0" tIns="0" rIns="0" bIns="0" rtlCol="0" anchor="ctr"/>
          <a:lstStyle/>
          <a:p>
            <a:pPr marL="0" indent="0">
              <a:buNone/>
            </a:pPr>
            <a:r>
              <a:rPr lang="en-US" sz="1000" dirty="0">
                <a:solidFill>
                  <a:srgbClr val="5EC4C4"/>
                </a:solidFill>
                <a:latin typeface="Calibri" pitchFamily="34" charset="0"/>
                <a:ea typeface="Calibri" pitchFamily="34" charset="-122"/>
                <a:cs typeface="Calibri" pitchFamily="34" charset="-120"/>
              </a:rPr>
              <a:t>CI: GitHub Actions · Deploy: Pages</a:t>
            </a:r>
            <a:endParaRPr lang="en-US" sz="1000" dirty="0"/>
          </a:p>
        </p:txBody>
      </p:sp>
      <p:sp>
        <p:nvSpPr>
          <p:cNvPr id="14" name="Shape 12"/>
          <p:cNvSpPr/>
          <p:nvPr/>
        </p:nvSpPr>
        <p:spPr>
          <a:xfrm>
            <a:off x="457200" y="4572000"/>
            <a:ext cx="8229600" cy="13716"/>
          </a:xfrm>
          <a:prstGeom prst="rect">
            <a:avLst/>
          </a:prstGeom>
          <a:solidFill>
            <a:srgbClr val="2DA8A8">
              <a:alpha val="50000"/>
            </a:srgbClr>
          </a:solidFill>
          <a:ln w="12700">
            <a:solidFill>
              <a:srgbClr val="2DA8A8"/>
            </a:solidFill>
            <a:prstDash val="solid"/>
          </a:ln>
        </p:spPr>
        <p:txBody>
          <a:bodyPr/>
          <a:lstStyle/>
          <a:p>
            <a:endParaRPr lang="en-US"/>
          </a:p>
        </p:txBody>
      </p:sp>
      <p:sp>
        <p:nvSpPr>
          <p:cNvPr id="15" name="Text 13"/>
          <p:cNvSpPr txBox="1"/>
          <p:nvPr/>
        </p:nvSpPr>
        <p:spPr>
          <a:xfrm>
            <a:off x="457200" y="4663440"/>
            <a:ext cx="8229600" cy="256032"/>
          </a:xfrm>
          <a:prstGeom prst="rect">
            <a:avLst/>
          </a:prstGeom>
          <a:noFill/>
          <a:ln/>
        </p:spPr>
        <p:txBody>
          <a:bodyPr wrap="square" lIns="0" tIns="0" rIns="0" bIns="0" rtlCol="0" anchor="ctr"/>
          <a:lstStyle/>
          <a:p>
            <a:pPr marL="0" indent="0" algn="ctr">
              <a:buNone/>
            </a:pPr>
            <a:r>
              <a:rPr lang="en-US" sz="900" dirty="0">
                <a:solidFill>
                  <a:srgbClr val="2DA8A8"/>
                </a:solidFill>
                <a:latin typeface="Calibri" pitchFamily="34" charset="0"/>
                <a:ea typeface="Calibri" pitchFamily="34" charset="-122"/>
                <a:cs typeface="Calibri" pitchFamily="34" charset="-120"/>
              </a:rPr>
              <a:t>WA3859 · Capstone Phase 2 · 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2E"/>
          </a:solidFill>
          <a:ln w="12700">
            <a:solidFill>
              <a:srgbClr val="0F1E2E"/>
            </a:solidFill>
            <a:prstDash val="solid"/>
          </a:ln>
        </p:spPr>
        <p:txBody>
          <a:bodyPr/>
          <a:lstStyle/>
          <a:p>
            <a:endParaRPr lang="en-US"/>
          </a:p>
        </p:txBody>
      </p:sp>
      <p:sp>
        <p:nvSpPr>
          <p:cNvPr id="3" name="Text 1"/>
          <p:cNvSpPr txBox="1"/>
          <p:nvPr/>
        </p:nvSpPr>
        <p:spPr>
          <a:xfrm>
            <a:off x="320040" y="91440"/>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App Assembly: What Was Built</a:t>
            </a:r>
            <a:endParaRPr lang="en-US" sz="2200" dirty="0"/>
          </a:p>
        </p:txBody>
      </p:sp>
      <p:sp>
        <p:nvSpPr>
          <p:cNvPr id="4" name="Text 2"/>
          <p:cNvSpPr txBox="1"/>
          <p:nvPr/>
        </p:nvSpPr>
        <p:spPr>
          <a:xfrm>
            <a:off x="274320" y="822960"/>
            <a:ext cx="2560320" cy="274320"/>
          </a:xfrm>
          <a:prstGeom prst="rect">
            <a:avLst/>
          </a:prstGeom>
          <a:noFill/>
          <a:ln/>
        </p:spPr>
        <p:txBody>
          <a:bodyPr wrap="square" lIns="0" tIns="0" rIns="0" bIns="0" rtlCol="0" anchor="ctr"/>
          <a:lstStyle/>
          <a:p>
            <a:pPr marL="0" indent="0" algn="ctr">
              <a:buNone/>
            </a:pPr>
            <a:r>
              <a:rPr lang="en-US" sz="1100" b="1" dirty="0">
                <a:solidFill>
                  <a:srgbClr val="2DA8A8"/>
                </a:solidFill>
                <a:latin typeface="Calibri" pitchFamily="34" charset="0"/>
                <a:ea typeface="Calibri" pitchFamily="34" charset="-122"/>
                <a:cs typeface="Calibri" pitchFamily="34" charset="-120"/>
              </a:rPr>
              <a:t>Day 1</a:t>
            </a:r>
            <a:endParaRPr lang="en-US" sz="1100" dirty="0"/>
          </a:p>
        </p:txBody>
      </p:sp>
      <p:sp>
        <p:nvSpPr>
          <p:cNvPr id="5" name="Text 3"/>
          <p:cNvSpPr txBox="1"/>
          <p:nvPr/>
        </p:nvSpPr>
        <p:spPr>
          <a:xfrm>
            <a:off x="3246120" y="822960"/>
            <a:ext cx="2560320" cy="274320"/>
          </a:xfrm>
          <a:prstGeom prst="rect">
            <a:avLst/>
          </a:prstGeom>
          <a:noFill/>
          <a:ln/>
        </p:spPr>
        <p:txBody>
          <a:bodyPr wrap="square" lIns="0" tIns="0" rIns="0" bIns="0" rtlCol="0" anchor="ctr"/>
          <a:lstStyle/>
          <a:p>
            <a:pPr marL="0" indent="0" algn="ctr">
              <a:buNone/>
            </a:pPr>
            <a:r>
              <a:rPr lang="en-US" sz="1100" b="1" dirty="0">
                <a:solidFill>
                  <a:srgbClr val="5EC4C4"/>
                </a:solidFill>
                <a:latin typeface="Calibri" pitchFamily="34" charset="0"/>
                <a:ea typeface="Calibri" pitchFamily="34" charset="-122"/>
                <a:cs typeface="Calibri" pitchFamily="34" charset="-120"/>
              </a:rPr>
              <a:t>Day 2</a:t>
            </a:r>
            <a:endParaRPr lang="en-US" sz="1100" dirty="0"/>
          </a:p>
        </p:txBody>
      </p:sp>
      <p:sp>
        <p:nvSpPr>
          <p:cNvPr id="6" name="Text 4"/>
          <p:cNvSpPr txBox="1"/>
          <p:nvPr/>
        </p:nvSpPr>
        <p:spPr>
          <a:xfrm>
            <a:off x="6217920" y="822960"/>
            <a:ext cx="2560320" cy="274320"/>
          </a:xfrm>
          <a:prstGeom prst="rect">
            <a:avLst/>
          </a:prstGeom>
          <a:noFill/>
          <a:ln/>
        </p:spPr>
        <p:txBody>
          <a:bodyPr wrap="square" lIns="0" tIns="0" rIns="0" bIns="0" rtlCol="0" anchor="ctr"/>
          <a:lstStyle/>
          <a:p>
            <a:pPr marL="0" indent="0" algn="ctr">
              <a:buNone/>
            </a:pPr>
            <a:r>
              <a:rPr lang="en-US" sz="1100" b="1" dirty="0">
                <a:solidFill>
                  <a:srgbClr val="F4C842"/>
                </a:solidFill>
                <a:latin typeface="Calibri" pitchFamily="34" charset="0"/>
                <a:ea typeface="Calibri" pitchFamily="34" charset="-122"/>
                <a:cs typeface="Calibri" pitchFamily="34" charset="-120"/>
              </a:rPr>
              <a:t>Day 3</a:t>
            </a:r>
            <a:endParaRPr lang="en-US" sz="1100" dirty="0"/>
          </a:p>
        </p:txBody>
      </p:sp>
      <p:sp>
        <p:nvSpPr>
          <p:cNvPr id="7" name="Shape 5"/>
          <p:cNvSpPr/>
          <p:nvPr/>
        </p:nvSpPr>
        <p:spPr>
          <a:xfrm>
            <a:off x="274320" y="1143000"/>
            <a:ext cx="2606040" cy="329184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8" name="Text 6"/>
          <p:cNvSpPr txBox="1"/>
          <p:nvPr/>
        </p:nvSpPr>
        <p:spPr>
          <a:xfrm>
            <a:off x="365760" y="1261872"/>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Vite + TypeScript toolchain confirmed</a:t>
            </a:r>
            <a:endParaRPr lang="en-US" sz="1050" dirty="0"/>
          </a:p>
        </p:txBody>
      </p:sp>
      <p:sp>
        <p:nvSpPr>
          <p:cNvPr id="9" name="Text 7"/>
          <p:cNvSpPr txBox="1"/>
          <p:nvPr/>
        </p:nvSpPr>
        <p:spPr>
          <a:xfrm>
            <a:off x="365760" y="1828800"/>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Page shell running in browser (Day 1)</a:t>
            </a:r>
            <a:endParaRPr lang="en-US" sz="1050" dirty="0"/>
          </a:p>
        </p:txBody>
      </p:sp>
      <p:sp>
        <p:nvSpPr>
          <p:cNvPr id="10" name="Text 8"/>
          <p:cNvSpPr txBox="1"/>
          <p:nvPr/>
        </p:nvSpPr>
        <p:spPr>
          <a:xfrm>
            <a:off x="365760" y="2395728"/>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Reviewed CAPSTONE-BRIEF.md</a:t>
            </a:r>
            <a:endParaRPr lang="en-US" sz="1050" dirty="0"/>
          </a:p>
        </p:txBody>
      </p:sp>
      <p:sp>
        <p:nvSpPr>
          <p:cNvPr id="11" name="Text 9"/>
          <p:cNvSpPr txBox="1"/>
          <p:nvPr/>
        </p:nvSpPr>
        <p:spPr>
          <a:xfrm>
            <a:off x="365760" y="2962656"/>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Identified delivery risks</a:t>
            </a:r>
            <a:endParaRPr lang="en-US" sz="1050" dirty="0"/>
          </a:p>
        </p:txBody>
      </p:sp>
      <p:sp>
        <p:nvSpPr>
          <p:cNvPr id="12" name="Shape 10"/>
          <p:cNvSpPr/>
          <p:nvPr/>
        </p:nvSpPr>
        <p:spPr>
          <a:xfrm>
            <a:off x="3246120" y="1143000"/>
            <a:ext cx="2606040" cy="329184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13" name="Text 11"/>
          <p:cNvSpPr txBox="1"/>
          <p:nvPr/>
        </p:nvSpPr>
        <p:spPr>
          <a:xfrm>
            <a:off x="3337560" y="1261872"/>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QuoteForm, PremiumDisplay, RecentQuotes components assembled</a:t>
            </a:r>
            <a:endParaRPr lang="en-US" sz="1050" dirty="0"/>
          </a:p>
        </p:txBody>
      </p:sp>
      <p:sp>
        <p:nvSpPr>
          <p:cNvPr id="14" name="Text 12"/>
          <p:cNvSpPr txBox="1"/>
          <p:nvPr/>
        </p:nvSpPr>
        <p:spPr>
          <a:xfrm>
            <a:off x="3337560" y="1828800"/>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TypeScript contracts (types.ts, premium.ts) wired</a:t>
            </a:r>
            <a:endParaRPr lang="en-US" sz="1050" dirty="0"/>
          </a:p>
        </p:txBody>
      </p:sp>
      <p:sp>
        <p:nvSpPr>
          <p:cNvPr id="15" name="Text 13"/>
          <p:cNvSpPr txBox="1"/>
          <p:nvPr/>
        </p:nvSpPr>
        <p:spPr>
          <a:xfrm>
            <a:off x="3337560" y="2395728"/>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Sponsor rate values applied</a:t>
            </a:r>
            <a:endParaRPr lang="en-US" sz="1050" dirty="0"/>
          </a:p>
        </p:txBody>
      </p:sp>
      <p:sp>
        <p:nvSpPr>
          <p:cNvPr id="16" name="Text 14"/>
          <p:cNvSpPr txBox="1"/>
          <p:nvPr/>
        </p:nvSpPr>
        <p:spPr>
          <a:xfrm>
            <a:off x="3337560" y="2962656"/>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Product title set via .env</a:t>
            </a:r>
            <a:endParaRPr lang="en-US" sz="1050" dirty="0"/>
          </a:p>
        </p:txBody>
      </p:sp>
      <p:sp>
        <p:nvSpPr>
          <p:cNvPr id="17" name="Text 15"/>
          <p:cNvSpPr txBox="1"/>
          <p:nvPr/>
        </p:nvSpPr>
        <p:spPr>
          <a:xfrm>
            <a:off x="3337560" y="3529584"/>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Known type bug resolved</a:t>
            </a:r>
            <a:endParaRPr lang="en-US" sz="1050" dirty="0"/>
          </a:p>
        </p:txBody>
      </p:sp>
      <p:sp>
        <p:nvSpPr>
          <p:cNvPr id="18" name="Shape 16"/>
          <p:cNvSpPr/>
          <p:nvPr/>
        </p:nvSpPr>
        <p:spPr>
          <a:xfrm>
            <a:off x="6217920" y="1143000"/>
            <a:ext cx="2606040" cy="329184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19" name="Text 17"/>
          <p:cNvSpPr txBox="1"/>
          <p:nvPr/>
        </p:nvSpPr>
        <p:spPr>
          <a:xfrm>
            <a:off x="6309360" y="1261872"/>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Data feed (quotes.json) loaded with useEffect</a:t>
            </a:r>
            <a:endParaRPr lang="en-US" sz="1050" dirty="0"/>
          </a:p>
        </p:txBody>
      </p:sp>
      <p:sp>
        <p:nvSpPr>
          <p:cNvPr id="20" name="Text 18"/>
          <p:cNvSpPr txBox="1"/>
          <p:nvPr/>
        </p:nvSpPr>
        <p:spPr>
          <a:xfrm>
            <a:off x="6309360" y="1828800"/>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Loading / error / success states visible</a:t>
            </a:r>
            <a:endParaRPr lang="en-US" sz="1050" dirty="0"/>
          </a:p>
        </p:txBody>
      </p:sp>
      <p:sp>
        <p:nvSpPr>
          <p:cNvPr id="21" name="Text 19"/>
          <p:cNvSpPr txBox="1"/>
          <p:nvPr/>
        </p:nvSpPr>
        <p:spPr>
          <a:xfrm>
            <a:off x="6309360" y="2395728"/>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useQuoteEstimate custom hook dropped in</a:t>
            </a:r>
            <a:endParaRPr lang="en-US" sz="1050" dirty="0"/>
          </a:p>
        </p:txBody>
      </p:sp>
      <p:sp>
        <p:nvSpPr>
          <p:cNvPr id="22" name="Text 20"/>
          <p:cNvSpPr txBox="1"/>
          <p:nvPr/>
        </p:nvSpPr>
        <p:spPr>
          <a:xfrm>
            <a:off x="6309360" y="2962656"/>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QuotesContext provider added — Save quote works</a:t>
            </a:r>
            <a:endParaRPr lang="en-US" sz="1050" dirty="0"/>
          </a:p>
        </p:txBody>
      </p:sp>
      <p:sp>
        <p:nvSpPr>
          <p:cNvPr id="23" name="Text 21"/>
          <p:cNvSpPr txBox="1"/>
          <p:nvPr/>
        </p:nvSpPr>
        <p:spPr>
          <a:xfrm>
            <a:off x="6309360" y="3529584"/>
            <a:ext cx="2423160" cy="530352"/>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CI workflow enabled (.github/workflows/ci.yml)</a:t>
            </a:r>
            <a:endParaRPr lang="en-US" sz="1050" dirty="0"/>
          </a:p>
        </p:txBody>
      </p:sp>
      <p:sp>
        <p:nvSpPr>
          <p:cNvPr id="24" name="Shape 22"/>
          <p:cNvSpPr/>
          <p:nvPr/>
        </p:nvSpPr>
        <p:spPr>
          <a:xfrm>
            <a:off x="457200" y="4526280"/>
            <a:ext cx="8229600" cy="13716"/>
          </a:xfrm>
          <a:prstGeom prst="rect">
            <a:avLst/>
          </a:prstGeom>
          <a:solidFill>
            <a:srgbClr val="2DA8A8">
              <a:alpha val="50000"/>
            </a:srgbClr>
          </a:solidFill>
          <a:ln w="12700">
            <a:solidFill>
              <a:srgbClr val="2DA8A8"/>
            </a:solidFill>
            <a:prstDash val="solid"/>
          </a:ln>
        </p:spPr>
        <p:txBody>
          <a:bodyPr/>
          <a:lstStyle/>
          <a:p>
            <a:endParaRPr lang="en-US"/>
          </a:p>
        </p:txBody>
      </p:sp>
      <p:sp>
        <p:nvSpPr>
          <p:cNvPr id="25" name="Text 23"/>
          <p:cNvSpPr txBox="1"/>
          <p:nvPr/>
        </p:nvSpPr>
        <p:spPr>
          <a:xfrm>
            <a:off x="365760" y="4617720"/>
            <a:ext cx="8412480" cy="384048"/>
          </a:xfrm>
          <a:prstGeom prst="rect">
            <a:avLst/>
          </a:prstGeom>
          <a:noFill/>
          <a:ln/>
        </p:spPr>
        <p:txBody>
          <a:bodyPr wrap="square" lIns="0" tIns="0" rIns="0" bIns="0" rtlCol="0" anchor="ctr"/>
          <a:lstStyle/>
          <a:p>
            <a:pPr marL="0" indent="0">
              <a:buNone/>
            </a:pPr>
            <a:r>
              <a:rPr lang="en-US" sz="1000" dirty="0">
                <a:solidFill>
                  <a:srgbClr val="5EC4C4"/>
                </a:solidFill>
                <a:latin typeface="Courier New" pitchFamily="34" charset="0"/>
                <a:ea typeface="Courier New" pitchFamily="34" charset="-122"/>
                <a:cs typeface="Courier New" pitchFamily="34" charset="-120"/>
              </a:rPr>
              <a:t>Production Build: npm run build  →  dist/  →  deployed to GitHub Pages via automated deploy.yml on merge to main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2E"/>
          </a:solidFill>
          <a:ln w="12700">
            <a:solidFill>
              <a:srgbClr val="0F1E2E"/>
            </a:solidFill>
            <a:prstDash val="solid"/>
          </a:ln>
        </p:spPr>
        <p:txBody>
          <a:bodyPr/>
          <a:lstStyle/>
          <a:p>
            <a:endParaRPr lang="en-US"/>
          </a:p>
        </p:txBody>
      </p:sp>
      <p:sp>
        <p:nvSpPr>
          <p:cNvPr id="3" name="Text 1"/>
          <p:cNvSpPr txBox="1"/>
          <p:nvPr/>
        </p:nvSpPr>
        <p:spPr>
          <a:xfrm>
            <a:off x="320040" y="109728"/>
            <a:ext cx="82296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Inject #1  —  Day 2: Scope &amp; Dependency Challenge</a:t>
            </a:r>
            <a:endParaRPr lang="en-US" sz="2000" dirty="0"/>
          </a:p>
        </p:txBody>
      </p:sp>
      <p:sp>
        <p:nvSpPr>
          <p:cNvPr id="4" name="Shape 2"/>
          <p:cNvSpPr/>
          <p:nvPr/>
        </p:nvSpPr>
        <p:spPr>
          <a:xfrm>
            <a:off x="274320" y="804672"/>
            <a:ext cx="4069080" cy="3840480"/>
          </a:xfrm>
          <a:prstGeom prst="roundRect">
            <a:avLst>
              <a:gd name="adj" fmla="val 1905"/>
            </a:avLst>
          </a:prstGeom>
          <a:solidFill>
            <a:srgbClr val="1A3250"/>
          </a:solidFill>
          <a:ln w="12700">
            <a:solidFill>
              <a:srgbClr val="2DA8A8"/>
            </a:solidFill>
            <a:prstDash val="solid"/>
          </a:ln>
        </p:spPr>
        <p:txBody>
          <a:bodyPr/>
          <a:lstStyle/>
          <a:p>
            <a:endParaRPr lang="en-US"/>
          </a:p>
        </p:txBody>
      </p:sp>
      <p:sp>
        <p:nvSpPr>
          <p:cNvPr id="5" name="Text 3"/>
          <p:cNvSpPr txBox="1"/>
          <p:nvPr/>
        </p:nvSpPr>
        <p:spPr>
          <a:xfrm>
            <a:off x="411480" y="896112"/>
            <a:ext cx="3749040" cy="274320"/>
          </a:xfrm>
          <a:prstGeom prst="rect">
            <a:avLst/>
          </a:prstGeom>
          <a:noFill/>
          <a:ln/>
        </p:spPr>
        <p:txBody>
          <a:bodyPr wrap="square" lIns="0" tIns="0" rIns="0" bIns="0" rtlCol="0" anchor="ctr"/>
          <a:lstStyle/>
          <a:p>
            <a:pPr marL="0" indent="0">
              <a:buNone/>
            </a:pPr>
            <a:r>
              <a:rPr lang="en-US" sz="1200" b="1" dirty="0">
                <a:solidFill>
                  <a:srgbClr val="5EC4C4"/>
                </a:solidFill>
                <a:latin typeface="Calibri" pitchFamily="34" charset="0"/>
                <a:ea typeface="Calibri" pitchFamily="34" charset="-122"/>
                <a:cs typeface="Calibri" pitchFamily="34" charset="-120"/>
              </a:rPr>
              <a:t>The Inject</a:t>
            </a:r>
            <a:endParaRPr lang="en-US" sz="1200" dirty="0"/>
          </a:p>
        </p:txBody>
      </p:sp>
      <p:sp>
        <p:nvSpPr>
          <p:cNvPr id="6" name="Text 4"/>
          <p:cNvSpPr txBox="1"/>
          <p:nvPr/>
        </p:nvSpPr>
        <p:spPr>
          <a:xfrm>
            <a:off x="411480" y="1225296"/>
            <a:ext cx="3749040" cy="3236976"/>
          </a:xfrm>
          <a:prstGeom prst="rect">
            <a:avLst/>
          </a:prstGeom>
          <a:noFill/>
          <a:ln/>
        </p:spPr>
        <p:txBody>
          <a:bodyPr wrap="square" lIns="0" tIns="0" rIns="0" bIns="0" rtlCol="0" anchor="t"/>
          <a:lstStyle/>
          <a:p>
            <a:pPr marL="0" indent="0">
              <a:buNone/>
            </a:pPr>
            <a:r>
              <a:rPr lang="en-US" sz="1150" dirty="0">
                <a:solidFill>
                  <a:srgbClr val="D0E2EE"/>
                </a:solidFill>
                <a:latin typeface="Calibri" pitchFamily="34" charset="0"/>
                <a:ea typeface="Calibri" pitchFamily="34" charset="-122"/>
                <a:cs typeface="Calibri" pitchFamily="34" charset="-120"/>
              </a:rPr>
              <a:t>Sponsor (Priya) sent two simultaneous requests:</a:t>
            </a:r>
            <a:endParaRPr lang="en-US" sz="1150" dirty="0"/>
          </a:p>
          <a:p>
            <a:pPr marL="0" indent="0">
              <a:buNone/>
            </a:pPr>
            <a:endParaRPr lang="en-US" sz="1150" dirty="0"/>
          </a:p>
          <a:p>
            <a:pPr marL="0" indent="0">
              <a:buNone/>
            </a:pPr>
            <a:r>
              <a:rPr lang="en-US" sz="1150" dirty="0">
                <a:solidFill>
                  <a:srgbClr val="D0E2EE"/>
                </a:solidFill>
                <a:latin typeface="Calibri" pitchFamily="34" charset="0"/>
                <a:ea typeface="Calibri" pitchFamily="34" charset="-122"/>
                <a:cs typeface="Calibri" pitchFamily="34" charset="-120"/>
              </a:rPr>
              <a:t>1.  Marketing wants a ZIP-code field on the quote form by Thursday for a regional A/B test.</a:t>
            </a:r>
            <a:endParaRPr lang="en-US" sz="1150" dirty="0"/>
          </a:p>
          <a:p>
            <a:pPr marL="0" indent="0">
              <a:buNone/>
            </a:pPr>
            <a:endParaRPr lang="en-US" sz="1150" dirty="0"/>
          </a:p>
          <a:p>
            <a:pPr marL="0" indent="0">
              <a:buNone/>
            </a:pPr>
            <a:r>
              <a:rPr lang="en-US" sz="1150" dirty="0">
                <a:solidFill>
                  <a:srgbClr val="D0E2EE"/>
                </a:solidFill>
                <a:latin typeface="Calibri" pitchFamily="34" charset="0"/>
                <a:ea typeface="Calibri" pitchFamily="34" charset="-122"/>
                <a:cs typeface="Calibri" pitchFamily="34" charset="-120"/>
              </a:rPr>
              <a:t>2.  Platform team flagged a moderate-severity dependency in the build toolchain — upgrade window is next week.</a:t>
            </a:r>
            <a:endParaRPr lang="en-US" sz="1150" dirty="0"/>
          </a:p>
        </p:txBody>
      </p:sp>
      <p:sp>
        <p:nvSpPr>
          <p:cNvPr id="7" name="Shape 5"/>
          <p:cNvSpPr/>
          <p:nvPr/>
        </p:nvSpPr>
        <p:spPr>
          <a:xfrm>
            <a:off x="4663440" y="804672"/>
            <a:ext cx="4160520" cy="3840480"/>
          </a:xfrm>
          <a:prstGeom prst="roundRect">
            <a:avLst>
              <a:gd name="adj" fmla="val 1905"/>
            </a:avLst>
          </a:prstGeom>
          <a:solidFill>
            <a:srgbClr val="1A3250"/>
          </a:solidFill>
          <a:ln w="12700">
            <a:solidFill>
              <a:srgbClr val="2DA8A8"/>
            </a:solidFill>
            <a:prstDash val="solid"/>
          </a:ln>
        </p:spPr>
        <p:txBody>
          <a:bodyPr/>
          <a:lstStyle/>
          <a:p>
            <a:endParaRPr lang="en-US"/>
          </a:p>
        </p:txBody>
      </p:sp>
      <p:sp>
        <p:nvSpPr>
          <p:cNvPr id="8" name="Text 6"/>
          <p:cNvSpPr txBox="1"/>
          <p:nvPr/>
        </p:nvSpPr>
        <p:spPr>
          <a:xfrm>
            <a:off x="4800600" y="896112"/>
            <a:ext cx="3840480" cy="274320"/>
          </a:xfrm>
          <a:prstGeom prst="rect">
            <a:avLst/>
          </a:prstGeom>
          <a:noFill/>
          <a:ln/>
        </p:spPr>
        <p:txBody>
          <a:bodyPr wrap="square" lIns="0" tIns="0" rIns="0" bIns="0" rtlCol="0" anchor="ctr"/>
          <a:lstStyle/>
          <a:p>
            <a:pPr marL="0" indent="0">
              <a:buNone/>
            </a:pPr>
            <a:r>
              <a:rPr lang="en-US" sz="1200" b="1" dirty="0">
                <a:solidFill>
                  <a:srgbClr val="5EC4C4"/>
                </a:solidFill>
                <a:latin typeface="Calibri" pitchFamily="34" charset="0"/>
                <a:ea typeface="Calibri" pitchFamily="34" charset="-122"/>
                <a:cs typeface="Calibri" pitchFamily="34" charset="-120"/>
              </a:rPr>
              <a:t>How It Was Handled</a:t>
            </a:r>
            <a:endParaRPr lang="en-US" sz="1200" dirty="0"/>
          </a:p>
        </p:txBody>
      </p:sp>
      <p:sp>
        <p:nvSpPr>
          <p:cNvPr id="9" name="Shape 7"/>
          <p:cNvSpPr/>
          <p:nvPr/>
        </p:nvSpPr>
        <p:spPr>
          <a:xfrm>
            <a:off x="4800600" y="1243584"/>
            <a:ext cx="1371600" cy="256032"/>
          </a:xfrm>
          <a:prstGeom prst="roundRect">
            <a:avLst>
              <a:gd name="adj" fmla="val 35714"/>
            </a:avLst>
          </a:prstGeom>
          <a:solidFill>
            <a:srgbClr val="E05858"/>
          </a:solidFill>
          <a:ln w="12700">
            <a:solidFill>
              <a:srgbClr val="E05858"/>
            </a:solidFill>
            <a:prstDash val="solid"/>
          </a:ln>
        </p:spPr>
        <p:txBody>
          <a:bodyPr/>
          <a:lstStyle/>
          <a:p>
            <a:endParaRPr lang="en-US"/>
          </a:p>
        </p:txBody>
      </p:sp>
      <p:sp>
        <p:nvSpPr>
          <p:cNvPr id="10" name="Text 8"/>
          <p:cNvSpPr txBox="1"/>
          <p:nvPr/>
        </p:nvSpPr>
        <p:spPr>
          <a:xfrm>
            <a:off x="4800600" y="1243584"/>
            <a:ext cx="13716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ZIP: OUT OF SCOPE</a:t>
            </a:r>
            <a:endParaRPr lang="en-US" sz="900" dirty="0"/>
          </a:p>
        </p:txBody>
      </p:sp>
      <p:sp>
        <p:nvSpPr>
          <p:cNvPr id="11" name="Text 9"/>
          <p:cNvSpPr txBox="1"/>
          <p:nvPr/>
        </p:nvSpPr>
        <p:spPr>
          <a:xfrm>
            <a:off x="4800600" y="1572768"/>
            <a:ext cx="3840480" cy="1188720"/>
          </a:xfrm>
          <a:prstGeom prst="rect">
            <a:avLst/>
          </a:prstGeom>
          <a:noFill/>
          <a:ln/>
        </p:spPr>
        <p:txBody>
          <a:bodyPr wrap="square" lIns="0" tIns="0" rIns="0" bIns="0" rtlCol="0" anchor="t"/>
          <a:lstStyle/>
          <a:p>
            <a:pPr marL="0" indent="0">
              <a:buNone/>
            </a:pPr>
            <a:r>
              <a:rPr lang="en-US" sz="1100" dirty="0">
                <a:solidFill>
                  <a:srgbClr val="D0E2EE"/>
                </a:solidFill>
                <a:latin typeface="Calibri" pitchFamily="34" charset="0"/>
                <a:ea typeface="Calibri" pitchFamily="34" charset="-122"/>
                <a:cs typeface="Calibri" pitchFamily="34" charset="-120"/>
              </a:rPr>
              <a:t>Declined. Adding ZIP requires a new field in the Quote type contract, a regional-pricing function, and a form change — cost knowable via TypeScript types. Displaces P0 data-feed work on a Thursday deadline. Logged for next cycle.</a:t>
            </a:r>
            <a:endParaRPr lang="en-US" sz="1100" dirty="0"/>
          </a:p>
        </p:txBody>
      </p:sp>
      <p:sp>
        <p:nvSpPr>
          <p:cNvPr id="12" name="Shape 10"/>
          <p:cNvSpPr/>
          <p:nvPr/>
        </p:nvSpPr>
        <p:spPr>
          <a:xfrm>
            <a:off x="4800600" y="2834640"/>
            <a:ext cx="1371600" cy="256032"/>
          </a:xfrm>
          <a:prstGeom prst="roundRect">
            <a:avLst>
              <a:gd name="adj" fmla="val 35714"/>
            </a:avLst>
          </a:prstGeom>
          <a:solidFill>
            <a:srgbClr val="3DBE72"/>
          </a:solidFill>
          <a:ln w="12700">
            <a:solidFill>
              <a:srgbClr val="3DBE72"/>
            </a:solidFill>
            <a:prstDash val="solid"/>
          </a:ln>
        </p:spPr>
        <p:txBody>
          <a:bodyPr/>
          <a:lstStyle/>
          <a:p>
            <a:endParaRPr lang="en-US"/>
          </a:p>
        </p:txBody>
      </p:sp>
      <p:sp>
        <p:nvSpPr>
          <p:cNvPr id="13" name="Text 11"/>
          <p:cNvSpPr txBox="1"/>
          <p:nvPr/>
        </p:nvSpPr>
        <p:spPr>
          <a:xfrm>
            <a:off x="4800600" y="2834640"/>
            <a:ext cx="13716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DEPENDENCY: SHIP</a:t>
            </a:r>
            <a:endParaRPr lang="en-US" sz="900" dirty="0"/>
          </a:p>
        </p:txBody>
      </p:sp>
      <p:sp>
        <p:nvSpPr>
          <p:cNvPr id="14" name="Text 12"/>
          <p:cNvSpPr txBox="1"/>
          <p:nvPr/>
        </p:nvSpPr>
        <p:spPr>
          <a:xfrm>
            <a:off x="4800600" y="3163824"/>
            <a:ext cx="3840480" cy="1280160"/>
          </a:xfrm>
          <a:prstGeom prst="rect">
            <a:avLst/>
          </a:prstGeom>
          <a:noFill/>
          <a:ln/>
        </p:spPr>
        <p:txBody>
          <a:bodyPr wrap="square" lIns="0" tIns="0" rIns="0" bIns="0" rtlCol="0" anchor="t"/>
          <a:lstStyle/>
          <a:p>
            <a:pPr marL="0" indent="0">
              <a:buNone/>
            </a:pPr>
            <a:r>
              <a:rPr lang="en-US" sz="1100" dirty="0">
                <a:solidFill>
                  <a:srgbClr val="D0E2EE"/>
                </a:solidFill>
                <a:latin typeface="Calibri" pitchFamily="34" charset="0"/>
                <a:ea typeface="Calibri" pitchFamily="34" charset="-122"/>
                <a:cs typeface="Calibri" pitchFamily="34" charset="-120"/>
              </a:rPr>
              <a:t>Recommended shipping on the current toolchain. Flag is in a dev-time dependency — not in the customer-facing bundle. Platform team takes the upgrade in their normal window next week. Decision communicated to sponsor with a clear ship/hold recommendation.</a:t>
            </a:r>
            <a:endParaRPr lang="en-US" sz="1100" dirty="0"/>
          </a:p>
        </p:txBody>
      </p:sp>
      <p:sp>
        <p:nvSpPr>
          <p:cNvPr id="15" name="Shape 13"/>
          <p:cNvSpPr/>
          <p:nvPr/>
        </p:nvSpPr>
        <p:spPr>
          <a:xfrm>
            <a:off x="457200" y="4736592"/>
            <a:ext cx="8229600" cy="13716"/>
          </a:xfrm>
          <a:prstGeom prst="rect">
            <a:avLst/>
          </a:prstGeom>
          <a:solidFill>
            <a:srgbClr val="2DA8A8">
              <a:alpha val="50000"/>
            </a:srgbClr>
          </a:solidFill>
          <a:ln w="12700">
            <a:solidFill>
              <a:srgbClr val="2DA8A8"/>
            </a:solidFill>
            <a:prstDash val="solid"/>
          </a:ln>
        </p:spPr>
        <p:txBody>
          <a:bodyPr/>
          <a:lstStyle/>
          <a:p>
            <a:endParaRPr lang="en-US"/>
          </a:p>
        </p:txBody>
      </p:sp>
      <p:sp>
        <p:nvSpPr>
          <p:cNvPr id="16" name="Text 14"/>
          <p:cNvSpPr txBox="1"/>
          <p:nvPr/>
        </p:nvSpPr>
        <p:spPr>
          <a:xfrm>
            <a:off x="365760" y="4818888"/>
            <a:ext cx="8412480" cy="237744"/>
          </a:xfrm>
          <a:prstGeom prst="rect">
            <a:avLst/>
          </a:prstGeom>
          <a:noFill/>
          <a:ln/>
        </p:spPr>
        <p:txBody>
          <a:bodyPr wrap="square" lIns="0" tIns="0" rIns="0" bIns="0" rtlCol="0" anchor="ctr"/>
          <a:lstStyle/>
          <a:p>
            <a:pPr marL="0" indent="0">
              <a:buNone/>
            </a:pPr>
            <a:r>
              <a:rPr lang="en-US" sz="1000" dirty="0">
                <a:solidFill>
                  <a:srgbClr val="2DA8A8"/>
                </a:solidFill>
                <a:latin typeface="Calibri" pitchFamily="34" charset="0"/>
                <a:ea typeface="Calibri" pitchFamily="34" charset="-122"/>
                <a:cs typeface="Calibri" pitchFamily="34" charset="-120"/>
              </a:rPr>
              <a:t>Deliverable: Decision memo + EOD status update sent to sponsor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2E"/>
          </a:solidFill>
          <a:ln w="12700">
            <a:solidFill>
              <a:srgbClr val="0F1E2E"/>
            </a:solidFill>
            <a:prstDash val="solid"/>
          </a:ln>
        </p:spPr>
        <p:txBody>
          <a:bodyPr/>
          <a:lstStyle/>
          <a:p>
            <a:endParaRPr lang="en-US"/>
          </a:p>
        </p:txBody>
      </p:sp>
      <p:sp>
        <p:nvSpPr>
          <p:cNvPr id="3" name="Text 1"/>
          <p:cNvSpPr txBox="1"/>
          <p:nvPr/>
        </p:nvSpPr>
        <p:spPr>
          <a:xfrm>
            <a:off x="320040" y="109728"/>
            <a:ext cx="82296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Injects #2 &amp; #3  —  Day 3: CI Failure + Live Pricing Incident</a:t>
            </a:r>
            <a:endParaRPr lang="en-US" sz="2000" dirty="0"/>
          </a:p>
        </p:txBody>
      </p:sp>
      <p:sp>
        <p:nvSpPr>
          <p:cNvPr id="4" name="Shape 2"/>
          <p:cNvSpPr/>
          <p:nvPr/>
        </p:nvSpPr>
        <p:spPr>
          <a:xfrm>
            <a:off x="274320" y="804672"/>
            <a:ext cx="8595360" cy="1463040"/>
          </a:xfrm>
          <a:prstGeom prst="roundRect">
            <a:avLst>
              <a:gd name="adj" fmla="val 5000"/>
            </a:avLst>
          </a:prstGeom>
          <a:solidFill>
            <a:srgbClr val="1A3250"/>
          </a:solidFill>
          <a:ln w="12700">
            <a:solidFill>
              <a:srgbClr val="2DA8A8"/>
            </a:solidFill>
            <a:prstDash val="solid"/>
          </a:ln>
        </p:spPr>
        <p:txBody>
          <a:bodyPr/>
          <a:lstStyle/>
          <a:p>
            <a:endParaRPr lang="en-US"/>
          </a:p>
        </p:txBody>
      </p:sp>
      <p:sp>
        <p:nvSpPr>
          <p:cNvPr id="5" name="Text 3"/>
          <p:cNvSpPr txBox="1"/>
          <p:nvPr/>
        </p:nvSpPr>
        <p:spPr>
          <a:xfrm>
            <a:off x="438912" y="886968"/>
            <a:ext cx="4572000" cy="256032"/>
          </a:xfrm>
          <a:prstGeom prst="rect">
            <a:avLst/>
          </a:prstGeom>
          <a:noFill/>
          <a:ln/>
        </p:spPr>
        <p:txBody>
          <a:bodyPr wrap="square" lIns="0" tIns="0" rIns="0" bIns="0" rtlCol="0" anchor="ctr"/>
          <a:lstStyle/>
          <a:p>
            <a:pPr marL="0" indent="0">
              <a:buNone/>
            </a:pPr>
            <a:r>
              <a:rPr lang="en-US" sz="1100" b="1" dirty="0">
                <a:solidFill>
                  <a:srgbClr val="E05858"/>
                </a:solidFill>
                <a:latin typeface="Calibri" pitchFamily="34" charset="0"/>
                <a:ea typeface="Calibri" pitchFamily="34" charset="-122"/>
                <a:cs typeface="Calibri" pitchFamily="34" charset="-120"/>
              </a:rPr>
              <a:t>CI Failure — Run #23 (Inject #2)</a:t>
            </a:r>
            <a:endParaRPr lang="en-US" sz="1100" dirty="0"/>
          </a:p>
        </p:txBody>
      </p:sp>
      <p:sp>
        <p:nvSpPr>
          <p:cNvPr id="6" name="Text 4"/>
          <p:cNvSpPr txBox="1"/>
          <p:nvPr/>
        </p:nvSpPr>
        <p:spPr>
          <a:xfrm>
            <a:off x="438912" y="1188720"/>
            <a:ext cx="8229600" cy="475488"/>
          </a:xfrm>
          <a:prstGeom prst="rect">
            <a:avLst/>
          </a:prstGeom>
          <a:noFill/>
          <a:ln/>
        </p:spPr>
        <p:txBody>
          <a:bodyPr wrap="square" lIns="0" tIns="0" rIns="0" bIns="0" rtlCol="0" anchor="t"/>
          <a:lstStyle/>
          <a:p>
            <a:pPr marL="0" indent="0">
              <a:buNone/>
            </a:pPr>
            <a:r>
              <a:rPr lang="en-US" sz="1100" dirty="0">
                <a:solidFill>
                  <a:srgbClr val="D0E2EE"/>
                </a:solidFill>
                <a:latin typeface="Calibri" pitchFamily="34" charset="0"/>
                <a:ea typeface="Calibri" pitchFamily="34" charset="-122"/>
                <a:cs typeface="Calibri" pitchFamily="34" charset="-120"/>
              </a:rPr>
              <a:t>Hotfix commit on main assigned a string (e.g. "130") to BASE_RATES where the TypeScript contract requires number. tsc --noEmit caught TS2322 in src/premium.ts — build stopped at type-check.</a:t>
            </a:r>
            <a:endParaRPr lang="en-US" sz="1100" dirty="0"/>
          </a:p>
        </p:txBody>
      </p:sp>
      <p:sp>
        <p:nvSpPr>
          <p:cNvPr id="7" name="Text 5"/>
          <p:cNvSpPr txBox="1"/>
          <p:nvPr/>
        </p:nvSpPr>
        <p:spPr>
          <a:xfrm>
            <a:off x="438912" y="1719072"/>
            <a:ext cx="8229600" cy="237744"/>
          </a:xfrm>
          <a:prstGeom prst="rect">
            <a:avLst/>
          </a:prstGeom>
          <a:noFill/>
          <a:ln/>
        </p:spPr>
        <p:txBody>
          <a:bodyPr wrap="square" lIns="0" tIns="0" rIns="0" bIns="0" rtlCol="0" anchor="ctr"/>
          <a:lstStyle/>
          <a:p>
            <a:pPr marL="0" indent="0">
              <a:buNone/>
            </a:pPr>
            <a:r>
              <a:rPr lang="en-US" sz="950" b="1" dirty="0">
                <a:solidFill>
                  <a:srgbClr val="F4C842"/>
                </a:solidFill>
                <a:latin typeface="Courier New" pitchFamily="34" charset="0"/>
                <a:ea typeface="Courier New" pitchFamily="34" charset="-122"/>
                <a:cs typeface="Courier New" pitchFamily="34" charset="-120"/>
              </a:rPr>
              <a:t>src/premium.ts(10,3): error TS2322: Type 'string' is not assignable to type 'number'</a:t>
            </a:r>
            <a:endParaRPr lang="en-US" sz="950" dirty="0"/>
          </a:p>
        </p:txBody>
      </p:sp>
      <p:sp>
        <p:nvSpPr>
          <p:cNvPr id="8" name="Shape 6"/>
          <p:cNvSpPr/>
          <p:nvPr/>
        </p:nvSpPr>
        <p:spPr>
          <a:xfrm>
            <a:off x="274320" y="2395728"/>
            <a:ext cx="8595360" cy="1298448"/>
          </a:xfrm>
          <a:prstGeom prst="roundRect">
            <a:avLst>
              <a:gd name="adj" fmla="val 5634"/>
            </a:avLst>
          </a:prstGeom>
          <a:solidFill>
            <a:srgbClr val="1A3250"/>
          </a:solidFill>
          <a:ln w="12700">
            <a:solidFill>
              <a:srgbClr val="2DA8A8"/>
            </a:solidFill>
            <a:prstDash val="solid"/>
          </a:ln>
        </p:spPr>
        <p:txBody>
          <a:bodyPr/>
          <a:lstStyle/>
          <a:p>
            <a:endParaRPr lang="en-US"/>
          </a:p>
        </p:txBody>
      </p:sp>
      <p:sp>
        <p:nvSpPr>
          <p:cNvPr id="9" name="Text 7"/>
          <p:cNvSpPr txBox="1"/>
          <p:nvPr/>
        </p:nvSpPr>
        <p:spPr>
          <a:xfrm>
            <a:off x="438912" y="2468880"/>
            <a:ext cx="5486400" cy="256032"/>
          </a:xfrm>
          <a:prstGeom prst="rect">
            <a:avLst/>
          </a:prstGeom>
          <a:noFill/>
          <a:ln/>
        </p:spPr>
        <p:txBody>
          <a:bodyPr wrap="square" lIns="0" tIns="0" rIns="0" bIns="0" rtlCol="0" anchor="ctr"/>
          <a:lstStyle/>
          <a:p>
            <a:pPr marL="0" indent="0">
              <a:buNone/>
            </a:pPr>
            <a:r>
              <a:rPr lang="en-US" sz="1100" b="1" dirty="0">
                <a:solidFill>
                  <a:srgbClr val="E05858"/>
                </a:solidFill>
                <a:latin typeface="Calibri" pitchFamily="34" charset="0"/>
                <a:ea typeface="Calibri" pitchFamily="34" charset="-122"/>
                <a:cs typeface="Calibri" pitchFamily="34" charset="-120"/>
              </a:rPr>
              <a:t>$3,120/month Quote Incident (Inject #3)</a:t>
            </a:r>
            <a:endParaRPr lang="en-US" sz="1100" dirty="0"/>
          </a:p>
        </p:txBody>
      </p:sp>
      <p:sp>
        <p:nvSpPr>
          <p:cNvPr id="10" name="Text 8"/>
          <p:cNvSpPr txBox="1"/>
          <p:nvPr/>
        </p:nvSpPr>
        <p:spPr>
          <a:xfrm>
            <a:off x="438912" y="2779776"/>
            <a:ext cx="8229600" cy="822960"/>
          </a:xfrm>
          <a:prstGeom prst="rect">
            <a:avLst/>
          </a:prstGeom>
          <a:noFill/>
          <a:ln/>
        </p:spPr>
        <p:txBody>
          <a:bodyPr wrap="square" lIns="0" tIns="0" rIns="0" bIns="0" rtlCol="0" anchor="t"/>
          <a:lstStyle/>
          <a:p>
            <a:pPr marL="0" indent="0">
              <a:buNone/>
            </a:pPr>
            <a:r>
              <a:rPr lang="en-US" sz="1100" dirty="0">
                <a:solidFill>
                  <a:srgbClr val="D0E2EE"/>
                </a:solidFill>
                <a:latin typeface="Calibri" pitchFamily="34" charset="0"/>
                <a:ea typeface="Calibri" pitchFamily="34" charset="-122"/>
                <a:cs typeface="Calibri" pitchFamily="34" charset="-120"/>
              </a:rPr>
              <a:t>Customer emailed support: quoted $3,120/month for $180,000 of home coverage. Correct output at the provided rates ≈ $312/mo — roughly 10× off. A string rate value doesn't crash the app but corrupts arithmetic. Confirmed as the same hotfix commit; one correction resolved both issues.</a:t>
            </a:r>
            <a:endParaRPr lang="en-US" sz="1100" dirty="0"/>
          </a:p>
        </p:txBody>
      </p:sp>
      <p:sp>
        <p:nvSpPr>
          <p:cNvPr id="11" name="Shape 9"/>
          <p:cNvSpPr/>
          <p:nvPr/>
        </p:nvSpPr>
        <p:spPr>
          <a:xfrm>
            <a:off x="274320" y="3803904"/>
            <a:ext cx="4160520" cy="1115568"/>
          </a:xfrm>
          <a:prstGeom prst="roundRect">
            <a:avLst>
              <a:gd name="adj" fmla="val 6557"/>
            </a:avLst>
          </a:prstGeom>
          <a:solidFill>
            <a:srgbClr val="1A3250"/>
          </a:solidFill>
          <a:ln w="12700">
            <a:solidFill>
              <a:srgbClr val="2DA8A8"/>
            </a:solidFill>
            <a:prstDash val="solid"/>
          </a:ln>
        </p:spPr>
        <p:txBody>
          <a:bodyPr/>
          <a:lstStyle/>
          <a:p>
            <a:endParaRPr lang="en-US"/>
          </a:p>
        </p:txBody>
      </p:sp>
      <p:sp>
        <p:nvSpPr>
          <p:cNvPr id="12" name="Text 10"/>
          <p:cNvSpPr txBox="1"/>
          <p:nvPr/>
        </p:nvSpPr>
        <p:spPr>
          <a:xfrm>
            <a:off x="420624" y="3877056"/>
            <a:ext cx="3840480" cy="256032"/>
          </a:xfrm>
          <a:prstGeom prst="rect">
            <a:avLst/>
          </a:prstGeom>
          <a:noFill/>
          <a:ln/>
        </p:spPr>
        <p:txBody>
          <a:bodyPr wrap="square" lIns="0" tIns="0" rIns="0" bIns="0" rtlCol="0" anchor="ctr"/>
          <a:lstStyle/>
          <a:p>
            <a:pPr marL="0" indent="0">
              <a:buNone/>
            </a:pPr>
            <a:r>
              <a:rPr lang="en-US" sz="1100" b="1" dirty="0">
                <a:solidFill>
                  <a:srgbClr val="5EC4C4"/>
                </a:solidFill>
                <a:latin typeface="Calibri" pitchFamily="34" charset="0"/>
                <a:ea typeface="Calibri" pitchFamily="34" charset="-122"/>
                <a:cs typeface="Calibri" pitchFamily="34" charset="-120"/>
              </a:rPr>
              <a:t>Go / No-Go Call</a:t>
            </a:r>
            <a:endParaRPr lang="en-US" sz="1100" dirty="0"/>
          </a:p>
        </p:txBody>
      </p:sp>
      <p:sp>
        <p:nvSpPr>
          <p:cNvPr id="13" name="Text 11"/>
          <p:cNvSpPr txBox="1"/>
          <p:nvPr/>
        </p:nvSpPr>
        <p:spPr>
          <a:xfrm>
            <a:off x="420624" y="4178808"/>
            <a:ext cx="3840480" cy="676656"/>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My branch (delivery/lead) was GREEN. Called NO-GO on merging until main was fixed — would not present a merge commit with a red CI. Once main turned green and rate was sponsor-confirmed: GO.</a:t>
            </a:r>
            <a:endParaRPr lang="en-US" sz="1050" dirty="0"/>
          </a:p>
        </p:txBody>
      </p:sp>
      <p:sp>
        <p:nvSpPr>
          <p:cNvPr id="14" name="Shape 12"/>
          <p:cNvSpPr/>
          <p:nvPr/>
        </p:nvSpPr>
        <p:spPr>
          <a:xfrm>
            <a:off x="4663440" y="3803904"/>
            <a:ext cx="4206240" cy="1115568"/>
          </a:xfrm>
          <a:prstGeom prst="roundRect">
            <a:avLst>
              <a:gd name="adj" fmla="val 6557"/>
            </a:avLst>
          </a:prstGeom>
          <a:solidFill>
            <a:srgbClr val="1A3250"/>
          </a:solidFill>
          <a:ln w="12700">
            <a:solidFill>
              <a:srgbClr val="2DA8A8"/>
            </a:solidFill>
            <a:prstDash val="solid"/>
          </a:ln>
        </p:spPr>
        <p:txBody>
          <a:bodyPr/>
          <a:lstStyle/>
          <a:p>
            <a:endParaRPr lang="en-US"/>
          </a:p>
        </p:txBody>
      </p:sp>
      <p:sp>
        <p:nvSpPr>
          <p:cNvPr id="15" name="Text 13"/>
          <p:cNvSpPr txBox="1"/>
          <p:nvPr/>
        </p:nvSpPr>
        <p:spPr>
          <a:xfrm>
            <a:off x="4809744" y="3877056"/>
            <a:ext cx="3840480" cy="256032"/>
          </a:xfrm>
          <a:prstGeom prst="rect">
            <a:avLst/>
          </a:prstGeom>
          <a:noFill/>
          <a:ln/>
        </p:spPr>
        <p:txBody>
          <a:bodyPr wrap="square" lIns="0" tIns="0" rIns="0" bIns="0" rtlCol="0" anchor="ctr"/>
          <a:lstStyle/>
          <a:p>
            <a:pPr marL="0" indent="0">
              <a:buNone/>
            </a:pPr>
            <a:r>
              <a:rPr lang="en-US" sz="1100" b="1" dirty="0">
                <a:solidFill>
                  <a:srgbClr val="5EC4C4"/>
                </a:solidFill>
                <a:latin typeface="Calibri" pitchFamily="34" charset="0"/>
                <a:ea typeface="Calibri" pitchFamily="34" charset="-122"/>
                <a:cs typeface="Calibri" pitchFamily="34" charset="-120"/>
              </a:rPr>
              <a:t>Stakeholder Message</a:t>
            </a:r>
            <a:endParaRPr lang="en-US" sz="1100" dirty="0"/>
          </a:p>
        </p:txBody>
      </p:sp>
      <p:sp>
        <p:nvSpPr>
          <p:cNvPr id="16" name="Text 14"/>
          <p:cNvSpPr txBox="1"/>
          <p:nvPr/>
        </p:nvSpPr>
        <p:spPr>
          <a:xfrm>
            <a:off x="4809744" y="4178808"/>
            <a:ext cx="3840480" cy="676656"/>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Named what failed, asked the hotfix author to confirm whether the $3,120 case was the same issue or a second bug, named owner of the fix, and offered to move the check-in. Clear routing — not assumption.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2E"/>
          </a:solidFill>
          <a:ln w="12700">
            <a:solidFill>
              <a:srgbClr val="0F1E2E"/>
            </a:solidFill>
            <a:prstDash val="solid"/>
          </a:ln>
        </p:spPr>
        <p:txBody>
          <a:bodyPr/>
          <a:lstStyle/>
          <a:p>
            <a:endParaRPr lang="en-US"/>
          </a:p>
        </p:txBody>
      </p:sp>
      <p:sp>
        <p:nvSpPr>
          <p:cNvPr id="3" name="Text 1"/>
          <p:cNvSpPr txBox="1"/>
          <p:nvPr/>
        </p:nvSpPr>
        <p:spPr>
          <a:xfrm>
            <a:off x="320040" y="109728"/>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Enhancements &amp; Deployment</a:t>
            </a:r>
            <a:endParaRPr lang="en-US" sz="2200" dirty="0"/>
          </a:p>
        </p:txBody>
      </p:sp>
      <p:sp>
        <p:nvSpPr>
          <p:cNvPr id="4" name="Shape 2"/>
          <p:cNvSpPr/>
          <p:nvPr/>
        </p:nvSpPr>
        <p:spPr>
          <a:xfrm>
            <a:off x="274320" y="822960"/>
            <a:ext cx="2606040" cy="356616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5" name="Text 3"/>
          <p:cNvSpPr txBox="1"/>
          <p:nvPr/>
        </p:nvSpPr>
        <p:spPr>
          <a:xfrm>
            <a:off x="384048" y="914400"/>
            <a:ext cx="2395728" cy="292608"/>
          </a:xfrm>
          <a:prstGeom prst="rect">
            <a:avLst/>
          </a:prstGeom>
          <a:noFill/>
          <a:ln/>
        </p:spPr>
        <p:txBody>
          <a:bodyPr wrap="square" lIns="0" tIns="0" rIns="0" bIns="0" rtlCol="0" anchor="ctr"/>
          <a:lstStyle/>
          <a:p>
            <a:pPr marL="0" indent="0">
              <a:buNone/>
            </a:pPr>
            <a:r>
              <a:rPr lang="en-US" sz="1100" b="1" dirty="0">
                <a:solidFill>
                  <a:srgbClr val="F4C842"/>
                </a:solidFill>
                <a:latin typeface="Calibri" pitchFamily="34" charset="0"/>
                <a:ea typeface="Calibri" pitchFamily="34" charset="-122"/>
                <a:cs typeface="Calibri" pitchFamily="34" charset="-120"/>
              </a:rPr>
              <a:t>Added Beyond Scope</a:t>
            </a:r>
            <a:endParaRPr lang="en-US" sz="1100" dirty="0"/>
          </a:p>
        </p:txBody>
      </p:sp>
      <p:sp>
        <p:nvSpPr>
          <p:cNvPr id="6" name="Text 4"/>
          <p:cNvSpPr txBox="1"/>
          <p:nvPr/>
        </p:nvSpPr>
        <p:spPr>
          <a:xfrm>
            <a:off x="384048" y="126187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GitHub Pages deployment (deploy.yml) — not in Phase 2 spec</a:t>
            </a:r>
            <a:endParaRPr lang="en-US" sz="1050" dirty="0"/>
          </a:p>
        </p:txBody>
      </p:sp>
      <p:sp>
        <p:nvSpPr>
          <p:cNvPr id="7" name="Text 5"/>
          <p:cNvSpPr txBox="1"/>
          <p:nvPr/>
        </p:nvSpPr>
        <p:spPr>
          <a:xfrm>
            <a:off x="384048" y="190195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Live URL verified end-to-end post-merge</a:t>
            </a:r>
            <a:endParaRPr lang="en-US" sz="1050" dirty="0"/>
          </a:p>
        </p:txBody>
      </p:sp>
      <p:sp>
        <p:nvSpPr>
          <p:cNvPr id="8" name="Text 6"/>
          <p:cNvSpPr txBox="1"/>
          <p:nvPr/>
        </p:nvSpPr>
        <p:spPr>
          <a:xfrm>
            <a:off x="384048" y="254203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dist/ folder committed and serving via Pages artifact upload</a:t>
            </a:r>
            <a:endParaRPr lang="en-US" sz="1050" dirty="0"/>
          </a:p>
        </p:txBody>
      </p:sp>
      <p:sp>
        <p:nvSpPr>
          <p:cNvPr id="9" name="Text 7"/>
          <p:cNvSpPr txBox="1"/>
          <p:nvPr/>
        </p:nvSpPr>
        <p:spPr>
          <a:xfrm>
            <a:off x="384048" y="318211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Delivery leadership package: vision brief, risk register, task list, delivery review outline</a:t>
            </a:r>
            <a:endParaRPr lang="en-US" sz="1050" dirty="0"/>
          </a:p>
        </p:txBody>
      </p:sp>
      <p:sp>
        <p:nvSpPr>
          <p:cNvPr id="10" name="Shape 8"/>
          <p:cNvSpPr/>
          <p:nvPr/>
        </p:nvSpPr>
        <p:spPr>
          <a:xfrm>
            <a:off x="3246120" y="822960"/>
            <a:ext cx="2606040" cy="356616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11" name="Text 9"/>
          <p:cNvSpPr txBox="1"/>
          <p:nvPr/>
        </p:nvSpPr>
        <p:spPr>
          <a:xfrm>
            <a:off x="3355848" y="914400"/>
            <a:ext cx="2395728" cy="292608"/>
          </a:xfrm>
          <a:prstGeom prst="rect">
            <a:avLst/>
          </a:prstGeom>
          <a:noFill/>
          <a:ln/>
        </p:spPr>
        <p:txBody>
          <a:bodyPr wrap="square" lIns="0" tIns="0" rIns="0" bIns="0" rtlCol="0" anchor="ctr"/>
          <a:lstStyle/>
          <a:p>
            <a:pPr marL="0" indent="0">
              <a:buNone/>
            </a:pPr>
            <a:r>
              <a:rPr lang="en-US" sz="1100" b="1" dirty="0">
                <a:solidFill>
                  <a:srgbClr val="3DBE72"/>
                </a:solidFill>
                <a:latin typeface="Calibri" pitchFamily="34" charset="0"/>
                <a:ea typeface="Calibri" pitchFamily="34" charset="-122"/>
                <a:cs typeface="Calibri" pitchFamily="34" charset="-120"/>
              </a:rPr>
              <a:t>CI Pipeline Detail</a:t>
            </a:r>
            <a:endParaRPr lang="en-US" sz="1100" dirty="0"/>
          </a:p>
        </p:txBody>
      </p:sp>
      <p:sp>
        <p:nvSpPr>
          <p:cNvPr id="12" name="Text 10"/>
          <p:cNvSpPr txBox="1"/>
          <p:nvPr/>
        </p:nvSpPr>
        <p:spPr>
          <a:xfrm>
            <a:off x="3355848" y="126187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Trigger: push to any branch</a:t>
            </a:r>
            <a:endParaRPr lang="en-US" sz="1050" dirty="0"/>
          </a:p>
        </p:txBody>
      </p:sp>
      <p:sp>
        <p:nvSpPr>
          <p:cNvPr id="13" name="Text 11"/>
          <p:cNvSpPr txBox="1"/>
          <p:nvPr/>
        </p:nvSpPr>
        <p:spPr>
          <a:xfrm>
            <a:off x="3355848" y="190195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Steps: checkout → Node 22 → npm ci → tsc --noEmit → npm run build</a:t>
            </a:r>
            <a:endParaRPr lang="en-US" sz="1050" dirty="0"/>
          </a:p>
        </p:txBody>
      </p:sp>
      <p:sp>
        <p:nvSpPr>
          <p:cNvPr id="14" name="Text 12"/>
          <p:cNvSpPr txBox="1"/>
          <p:nvPr/>
        </p:nvSpPr>
        <p:spPr>
          <a:xfrm>
            <a:off x="3355848" y="254203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Separate deploy.yml: triggers only on main, builds + pushes to Pages</a:t>
            </a:r>
            <a:endParaRPr lang="en-US" sz="1050" dirty="0"/>
          </a:p>
        </p:txBody>
      </p:sp>
      <p:sp>
        <p:nvSpPr>
          <p:cNvPr id="15" name="Text 13"/>
          <p:cNvSpPr txBox="1"/>
          <p:nvPr/>
        </p:nvSpPr>
        <p:spPr>
          <a:xfrm>
            <a:off x="3355848" y="318211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Type error in hotfix surfaced by CI before reaching production — system worked</a:t>
            </a:r>
            <a:endParaRPr lang="en-US" sz="1050" dirty="0"/>
          </a:p>
        </p:txBody>
      </p:sp>
      <p:sp>
        <p:nvSpPr>
          <p:cNvPr id="16" name="Shape 14"/>
          <p:cNvSpPr/>
          <p:nvPr/>
        </p:nvSpPr>
        <p:spPr>
          <a:xfrm>
            <a:off x="6217920" y="822960"/>
            <a:ext cx="2606040" cy="3566160"/>
          </a:xfrm>
          <a:prstGeom prst="roundRect">
            <a:avLst>
              <a:gd name="adj" fmla="val 2807"/>
            </a:avLst>
          </a:prstGeom>
          <a:solidFill>
            <a:srgbClr val="1A3250"/>
          </a:solidFill>
          <a:ln w="12700">
            <a:solidFill>
              <a:srgbClr val="2DA8A8"/>
            </a:solidFill>
            <a:prstDash val="solid"/>
          </a:ln>
        </p:spPr>
        <p:txBody>
          <a:bodyPr/>
          <a:lstStyle/>
          <a:p>
            <a:endParaRPr lang="en-US"/>
          </a:p>
        </p:txBody>
      </p:sp>
      <p:sp>
        <p:nvSpPr>
          <p:cNvPr id="17" name="Text 15"/>
          <p:cNvSpPr txBox="1"/>
          <p:nvPr/>
        </p:nvSpPr>
        <p:spPr>
          <a:xfrm>
            <a:off x="6327648" y="914400"/>
            <a:ext cx="2395728" cy="292608"/>
          </a:xfrm>
          <a:prstGeom prst="rect">
            <a:avLst/>
          </a:prstGeom>
          <a:noFill/>
          <a:ln/>
        </p:spPr>
        <p:txBody>
          <a:bodyPr wrap="square" lIns="0" tIns="0" rIns="0" bIns="0" rtlCol="0" anchor="ctr"/>
          <a:lstStyle/>
          <a:p>
            <a:pPr marL="0" indent="0">
              <a:buNone/>
            </a:pPr>
            <a:r>
              <a:rPr lang="en-US" sz="1100" b="1" dirty="0">
                <a:solidFill>
                  <a:srgbClr val="5EC4C4"/>
                </a:solidFill>
                <a:latin typeface="Calibri" pitchFamily="34" charset="0"/>
                <a:ea typeface="Calibri" pitchFamily="34" charset="-122"/>
                <a:cs typeface="Calibri" pitchFamily="34" charset="-120"/>
              </a:rPr>
              <a:t>Final Delivery State</a:t>
            </a:r>
            <a:endParaRPr lang="en-US" sz="1100" dirty="0"/>
          </a:p>
        </p:txBody>
      </p:sp>
      <p:sp>
        <p:nvSpPr>
          <p:cNvPr id="18" name="Text 16"/>
          <p:cNvSpPr txBox="1"/>
          <p:nvPr/>
        </p:nvSpPr>
        <p:spPr>
          <a:xfrm>
            <a:off x="6327648" y="126187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main: GREEN — all checks passing</a:t>
            </a:r>
            <a:endParaRPr lang="en-US" sz="1050" dirty="0"/>
          </a:p>
        </p:txBody>
      </p:sp>
      <p:sp>
        <p:nvSpPr>
          <p:cNvPr id="19" name="Text 17"/>
          <p:cNvSpPr txBox="1"/>
          <p:nvPr/>
        </p:nvSpPr>
        <p:spPr>
          <a:xfrm>
            <a:off x="6327648" y="190195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delivery/lead merged → main, squash, branch deleted</a:t>
            </a:r>
            <a:endParaRPr lang="en-US" sz="1050" dirty="0"/>
          </a:p>
        </p:txBody>
      </p:sp>
      <p:sp>
        <p:nvSpPr>
          <p:cNvPr id="20" name="Text 18"/>
          <p:cNvSpPr txBox="1"/>
          <p:nvPr/>
        </p:nvSpPr>
        <p:spPr>
          <a:xfrm>
            <a:off x="6327648" y="254203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Tag: phase-2 on merge commit</a:t>
            </a:r>
            <a:endParaRPr lang="en-US" sz="1050" dirty="0"/>
          </a:p>
        </p:txBody>
      </p:sp>
      <p:sp>
        <p:nvSpPr>
          <p:cNvPr id="21" name="Text 19"/>
          <p:cNvSpPr txBox="1"/>
          <p:nvPr/>
        </p:nvSpPr>
        <p:spPr>
          <a:xfrm>
            <a:off x="6327648" y="318211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Live: shadd1972.github.io/Capstone-2</a:t>
            </a:r>
            <a:endParaRPr lang="en-US" sz="1050" dirty="0"/>
          </a:p>
        </p:txBody>
      </p:sp>
      <p:sp>
        <p:nvSpPr>
          <p:cNvPr id="22" name="Text 20"/>
          <p:cNvSpPr txBox="1"/>
          <p:nvPr/>
        </p:nvSpPr>
        <p:spPr>
          <a:xfrm>
            <a:off x="6327648" y="3822192"/>
            <a:ext cx="2395728" cy="603504"/>
          </a:xfrm>
          <a:prstGeom prst="rect">
            <a:avLst/>
          </a:prstGeom>
          <a:noFill/>
          <a:ln/>
        </p:spPr>
        <p:txBody>
          <a:bodyPr wrap="square" lIns="0" tIns="0" rIns="0" bIns="0" rtlCol="0" anchor="t"/>
          <a:lstStyle/>
          <a:p>
            <a:pPr marL="0" indent="0">
              <a:buNone/>
            </a:pPr>
            <a:r>
              <a:rPr lang="en-US" sz="1050" dirty="0">
                <a:solidFill>
                  <a:srgbClr val="D0E2EE"/>
                </a:solidFill>
                <a:latin typeface="Calibri" pitchFamily="34" charset="0"/>
                <a:ea typeface="Calibri" pitchFamily="34" charset="-122"/>
                <a:cs typeface="Calibri" pitchFamily="34" charset="-120"/>
              </a:rPr>
              <a:t>▸  All delivery docs committed under delivery-leadership-package/</a:t>
            </a:r>
            <a:endParaRPr lang="en-US" sz="1050" dirty="0"/>
          </a:p>
        </p:txBody>
      </p:sp>
      <p:sp>
        <p:nvSpPr>
          <p:cNvPr id="23" name="Shape 21"/>
          <p:cNvSpPr/>
          <p:nvPr/>
        </p:nvSpPr>
        <p:spPr>
          <a:xfrm>
            <a:off x="457200" y="4480560"/>
            <a:ext cx="8229600" cy="13716"/>
          </a:xfrm>
          <a:prstGeom prst="rect">
            <a:avLst/>
          </a:prstGeom>
          <a:solidFill>
            <a:srgbClr val="2DA8A8">
              <a:alpha val="50000"/>
            </a:srgbClr>
          </a:solidFill>
          <a:ln w="12700">
            <a:solidFill>
              <a:srgbClr val="2DA8A8"/>
            </a:solidFill>
            <a:prstDash val="solid"/>
          </a:ln>
        </p:spPr>
        <p:txBody>
          <a:bodyPr/>
          <a:lstStyle/>
          <a:p>
            <a:endParaRPr lang="en-US"/>
          </a:p>
        </p:txBody>
      </p:sp>
      <p:sp>
        <p:nvSpPr>
          <p:cNvPr id="24" name="Text 22"/>
          <p:cNvSpPr txBox="1"/>
          <p:nvPr/>
        </p:nvSpPr>
        <p:spPr>
          <a:xfrm>
            <a:off x="365760" y="4572000"/>
            <a:ext cx="841248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Key takeaway: TypeScript contracts made every cost knowable — the ZIP scope call, the CI failure, the pricing incident all routed through the type system.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16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E2E"/>
          </a:solidFill>
          <a:ln w="12700">
            <a:solidFill>
              <a:srgbClr val="0F1E2E"/>
            </a:solidFill>
            <a:prstDash val="solid"/>
          </a:ln>
        </p:spPr>
        <p:txBody>
          <a:bodyPr/>
          <a:lstStyle/>
          <a:p>
            <a:endParaRPr lang="en-US"/>
          </a:p>
        </p:txBody>
      </p:sp>
      <p:sp>
        <p:nvSpPr>
          <p:cNvPr id="3" name="Text 1"/>
          <p:cNvSpPr txBox="1"/>
          <p:nvPr/>
        </p:nvSpPr>
        <p:spPr>
          <a:xfrm>
            <a:off x="320040" y="109728"/>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Life as the Tech Lead: Assembling It All</a:t>
            </a:r>
            <a:endParaRPr lang="en-US" sz="2200" dirty="0"/>
          </a:p>
        </p:txBody>
      </p:sp>
      <p:sp>
        <p:nvSpPr>
          <p:cNvPr id="4" name="Shape 2"/>
          <p:cNvSpPr/>
          <p:nvPr/>
        </p:nvSpPr>
        <p:spPr>
          <a:xfrm>
            <a:off x="256032" y="804672"/>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5" name="Text 3"/>
          <p:cNvSpPr txBox="1"/>
          <p:nvPr/>
        </p:nvSpPr>
        <p:spPr>
          <a:xfrm>
            <a:off x="365760" y="896112"/>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Reviewing Every Deliverable Before It Ships</a:t>
            </a:r>
            <a:endParaRPr lang="en-US" sz="1050" dirty="0"/>
          </a:p>
        </p:txBody>
      </p:sp>
      <p:sp>
        <p:nvSpPr>
          <p:cNvPr id="6" name="Text 4"/>
          <p:cNvSpPr txBox="1"/>
          <p:nvPr/>
        </p:nvSpPr>
        <p:spPr>
          <a:xfrm>
            <a:off x="365760" y="1188720"/>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Being tech lead means you don't just trust that pieces work — you verify them. Each component drop required reading the diff, running type-check, and confirming the dev server reflected what the compiler would accept. That review loop adds real time but is what separates a green build from a surprise at merge.</a:t>
            </a:r>
            <a:endParaRPr lang="en-US" sz="950" dirty="0"/>
          </a:p>
        </p:txBody>
      </p:sp>
      <p:sp>
        <p:nvSpPr>
          <p:cNvPr id="7" name="Shape 5"/>
          <p:cNvSpPr/>
          <p:nvPr/>
        </p:nvSpPr>
        <p:spPr>
          <a:xfrm>
            <a:off x="256032" y="2194560"/>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8" name="Text 6"/>
          <p:cNvSpPr txBox="1"/>
          <p:nvPr/>
        </p:nvSpPr>
        <p:spPr>
          <a:xfrm>
            <a:off x="365760" y="2286000"/>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Getting All the Pieces Linked Properly</a:t>
            </a:r>
            <a:endParaRPr lang="en-US" sz="1050" dirty="0"/>
          </a:p>
        </p:txBody>
      </p:sp>
      <p:sp>
        <p:nvSpPr>
          <p:cNvPr id="9" name="Text 7"/>
          <p:cNvSpPr txBox="1"/>
          <p:nvPr/>
        </p:nvSpPr>
        <p:spPr>
          <a:xfrm>
            <a:off x="365760" y="2578608"/>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Assembling isn't copy-paste. Props need to match type contracts, imports need the right paths, and context providers have to wrap the right tree. A single mislinked prop or a missing export silently breaks state sharing. Working through each integration point carefully — types.ts → components → hooks → context — is where most of the clock time goes.</a:t>
            </a:r>
            <a:endParaRPr lang="en-US" sz="950" dirty="0"/>
          </a:p>
        </p:txBody>
      </p:sp>
      <p:sp>
        <p:nvSpPr>
          <p:cNvPr id="10" name="Shape 8"/>
          <p:cNvSpPr/>
          <p:nvPr/>
        </p:nvSpPr>
        <p:spPr>
          <a:xfrm>
            <a:off x="256032" y="3584448"/>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11" name="Text 9"/>
          <p:cNvSpPr txBox="1"/>
          <p:nvPr/>
        </p:nvSpPr>
        <p:spPr>
          <a:xfrm>
            <a:off x="365760" y="3675888"/>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Handling Sponsor Injects Mid-Assembly</a:t>
            </a:r>
            <a:endParaRPr lang="en-US" sz="1050" dirty="0"/>
          </a:p>
        </p:txBody>
      </p:sp>
      <p:sp>
        <p:nvSpPr>
          <p:cNvPr id="12" name="Text 10"/>
          <p:cNvSpPr txBox="1"/>
          <p:nvPr/>
        </p:nvSpPr>
        <p:spPr>
          <a:xfrm>
            <a:off x="365760" y="3968496"/>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Two injects landed while the app was actively being wired together — a scope expansion request and a live pricing incident with a broken main. The job shifted from assembling to triaging, deciding, communicating, and then getting back on the build. That context-switching cost is real and managing it without dropping the original delivery goal is the core tech-lead skill.</a:t>
            </a:r>
            <a:endParaRPr lang="en-US" sz="950" dirty="0"/>
          </a:p>
        </p:txBody>
      </p:sp>
      <p:sp>
        <p:nvSpPr>
          <p:cNvPr id="13" name="Shape 11"/>
          <p:cNvSpPr/>
          <p:nvPr/>
        </p:nvSpPr>
        <p:spPr>
          <a:xfrm>
            <a:off x="4681728" y="804672"/>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14" name="Text 12"/>
          <p:cNvSpPr txBox="1"/>
          <p:nvPr/>
        </p:nvSpPr>
        <p:spPr>
          <a:xfrm>
            <a:off x="4791456" y="896112"/>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Building the Claims &amp; About Page Hooks</a:t>
            </a:r>
            <a:endParaRPr lang="en-US" sz="1050" dirty="0"/>
          </a:p>
        </p:txBody>
      </p:sp>
      <p:sp>
        <p:nvSpPr>
          <p:cNvPr id="15" name="Text 13"/>
          <p:cNvSpPr txBox="1"/>
          <p:nvPr/>
        </p:nvSpPr>
        <p:spPr>
          <a:xfrm>
            <a:off x="4791456" y="1188720"/>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After absorbing how useQuoteEstimate and QuotesContext worked in the quote flow, I applied the same patterns to stub out hooks for a Claims page and an About page — new territory not in the provided kit. Writing those from observation rather than instruction is the marker that the patterns landed.</a:t>
            </a:r>
            <a:endParaRPr lang="en-US" sz="950" dirty="0"/>
          </a:p>
        </p:txBody>
      </p:sp>
      <p:sp>
        <p:nvSpPr>
          <p:cNvPr id="16" name="Shape 14"/>
          <p:cNvSpPr/>
          <p:nvPr/>
        </p:nvSpPr>
        <p:spPr>
          <a:xfrm>
            <a:off x="4681728" y="2194560"/>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17" name="Text 15"/>
          <p:cNvSpPr txBox="1"/>
          <p:nvPr/>
        </p:nvSpPr>
        <p:spPr>
          <a:xfrm>
            <a:off x="4791456" y="2286000"/>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Personalizing the App Along the Way</a:t>
            </a:r>
            <a:endParaRPr lang="en-US" sz="1050" dirty="0"/>
          </a:p>
        </p:txBody>
      </p:sp>
      <p:sp>
        <p:nvSpPr>
          <p:cNvPr id="18" name="Text 16"/>
          <p:cNvSpPr txBox="1"/>
          <p:nvPr/>
        </p:nvSpPr>
        <p:spPr>
          <a:xfrm>
            <a:off x="4791456" y="2578608"/>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Small customizations — the product title in .env, rate values that produce believable numbers, the delivery-leadership-package docs written in my own voice — turned a starter kit into something I can point to. That authorship matters: it reflects the decisions I actually made, not just the steps I followed.</a:t>
            </a:r>
            <a:endParaRPr lang="en-US" sz="950" dirty="0"/>
          </a:p>
        </p:txBody>
      </p:sp>
      <p:sp>
        <p:nvSpPr>
          <p:cNvPr id="19" name="Shape 17"/>
          <p:cNvSpPr/>
          <p:nvPr/>
        </p:nvSpPr>
        <p:spPr>
          <a:xfrm>
            <a:off x="4681728" y="3584448"/>
            <a:ext cx="4206240" cy="1298448"/>
          </a:xfrm>
          <a:prstGeom prst="roundRect">
            <a:avLst>
              <a:gd name="adj" fmla="val 4225"/>
            </a:avLst>
          </a:prstGeom>
          <a:solidFill>
            <a:srgbClr val="1A3250"/>
          </a:solidFill>
          <a:ln w="12700">
            <a:solidFill>
              <a:srgbClr val="2DA8A8"/>
            </a:solidFill>
            <a:prstDash val="solid"/>
          </a:ln>
        </p:spPr>
        <p:txBody>
          <a:bodyPr/>
          <a:lstStyle/>
          <a:p>
            <a:endParaRPr lang="en-US"/>
          </a:p>
        </p:txBody>
      </p:sp>
      <p:sp>
        <p:nvSpPr>
          <p:cNvPr id="20" name="Text 18"/>
          <p:cNvSpPr txBox="1"/>
          <p:nvPr/>
        </p:nvSpPr>
        <p:spPr>
          <a:xfrm>
            <a:off x="4791456" y="3675888"/>
            <a:ext cx="4005072" cy="256032"/>
          </a:xfrm>
          <a:prstGeom prst="rect">
            <a:avLst/>
          </a:prstGeom>
          <a:noFill/>
          <a:ln/>
        </p:spPr>
        <p:txBody>
          <a:bodyPr wrap="square" lIns="0" tIns="0" rIns="0" bIns="0" rtlCol="0" anchor="t"/>
          <a:lstStyle/>
          <a:p>
            <a:pPr marL="0" indent="0">
              <a:buNone/>
            </a:pPr>
            <a:r>
              <a:rPr lang="en-US" sz="1050" b="1" dirty="0">
                <a:solidFill>
                  <a:srgbClr val="5EC4C4"/>
                </a:solidFill>
                <a:latin typeface="Calibri" pitchFamily="34" charset="0"/>
                <a:ea typeface="Calibri" pitchFamily="34" charset="-122"/>
                <a:cs typeface="Calibri" pitchFamily="34" charset="-120"/>
              </a:rPr>
              <a:t>▸  What This Phase Taught Me</a:t>
            </a:r>
            <a:endParaRPr lang="en-US" sz="1050" dirty="0"/>
          </a:p>
        </p:txBody>
      </p:sp>
      <p:sp>
        <p:nvSpPr>
          <p:cNvPr id="21" name="Text 19"/>
          <p:cNvSpPr txBox="1"/>
          <p:nvPr/>
        </p:nvSpPr>
        <p:spPr>
          <a:xfrm>
            <a:off x="4791456" y="3968496"/>
            <a:ext cx="4005072" cy="841248"/>
          </a:xfrm>
          <a:prstGeom prst="rect">
            <a:avLst/>
          </a:prstGeom>
          <a:noFill/>
          <a:ln/>
        </p:spPr>
        <p:txBody>
          <a:bodyPr wrap="square" lIns="0" tIns="0" rIns="0" bIns="0" rtlCol="0" anchor="t"/>
          <a:lstStyle/>
          <a:p>
            <a:pPr marL="0" indent="0">
              <a:buNone/>
            </a:pPr>
            <a:r>
              <a:rPr lang="en-US" sz="950" dirty="0">
                <a:solidFill>
                  <a:srgbClr val="D0E2EE"/>
                </a:solidFill>
                <a:latin typeface="Calibri" pitchFamily="34" charset="0"/>
                <a:ea typeface="Calibri" pitchFamily="34" charset="-122"/>
                <a:cs typeface="Calibri" pitchFamily="34" charset="-120"/>
              </a:rPr>
              <a:t>The TypeScript type system isn't overhead — it's the thing that made every cost knowable: the ZIP scope call, the CI failure, the pricing incident. The discipline of assembling rather than improvising, and communicating decisions in writing before they become problems, is the repeatable part of this role.</a:t>
            </a:r>
            <a:endParaRPr lang="en-US" sz="950" dirty="0"/>
          </a:p>
        </p:txBody>
      </p:sp>
      <p:sp>
        <p:nvSpPr>
          <p:cNvPr id="22" name="Shape 20"/>
          <p:cNvSpPr/>
          <p:nvPr/>
        </p:nvSpPr>
        <p:spPr>
          <a:xfrm>
            <a:off x="457200" y="5001768"/>
            <a:ext cx="8229600" cy="13716"/>
          </a:xfrm>
          <a:prstGeom prst="rect">
            <a:avLst/>
          </a:prstGeom>
          <a:solidFill>
            <a:srgbClr val="2DA8A8">
              <a:alpha val="50000"/>
            </a:srgbClr>
          </a:solidFill>
          <a:ln w="12700">
            <a:solidFill>
              <a:srgbClr val="2DA8A8"/>
            </a:solidFill>
            <a:prstDash val="solid"/>
          </a:ln>
        </p:spPr>
        <p:txBody>
          <a:bodyPr/>
          <a:lstStyle/>
          <a:p>
            <a:endParaRPr lang="en-US"/>
          </a:p>
        </p:txBody>
      </p:sp>
      <p:sp>
        <p:nvSpPr>
          <p:cNvPr id="23" name="Text 21"/>
          <p:cNvSpPr txBox="1"/>
          <p:nvPr/>
        </p:nvSpPr>
        <p:spPr>
          <a:xfrm>
            <a:off x="457200" y="5084064"/>
            <a:ext cx="8229600" cy="219456"/>
          </a:xfrm>
          <a:prstGeom prst="rect">
            <a:avLst/>
          </a:prstGeom>
          <a:noFill/>
          <a:ln/>
        </p:spPr>
        <p:txBody>
          <a:bodyPr wrap="square" lIns="0" tIns="0" rIns="0" bIns="0" rtlCol="0" anchor="ctr"/>
          <a:lstStyle/>
          <a:p>
            <a:pPr marL="0" indent="0" algn="ctr">
              <a:buNone/>
            </a:pPr>
            <a:r>
              <a:rPr lang="en-US" sz="900" dirty="0">
                <a:solidFill>
                  <a:srgbClr val="2DA8A8"/>
                </a:solidFill>
                <a:latin typeface="Calibri" pitchFamily="34" charset="0"/>
                <a:ea typeface="Calibri" pitchFamily="34" charset="-122"/>
                <a:cs typeface="Calibri" pitchFamily="34" charset="-120"/>
              </a:rPr>
              <a:t>WA3859 · Capstone Phase 2 · Slide 6 of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TotalTime>
  <Words>1273</Words>
  <Application>Microsoft Office PowerPoint</Application>
  <PresentationFormat>On-screen Show (16:9)</PresentationFormat>
  <Paragraphs>94</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Schutte, Shadd</cp:lastModifiedBy>
  <cp:revision>2</cp:revision>
  <dcterms:created xsi:type="dcterms:W3CDTF">2026-09-03T12:09:19Z</dcterms:created>
  <dcterms:modified xsi:type="dcterms:W3CDTF">2026-09-03T12:28:35Z</dcterms:modified>
</cp:coreProperties>
</file>